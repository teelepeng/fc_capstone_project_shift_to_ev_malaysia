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handoutMasterIdLst>
    <p:handoutMasterId r:id="rId34"/>
  </p:handoutMasterIdLst>
  <p:sldIdLst>
    <p:sldId id="292" r:id="rId5"/>
    <p:sldId id="296" r:id="rId6"/>
    <p:sldId id="276" r:id="rId7"/>
    <p:sldId id="297" r:id="rId8"/>
    <p:sldId id="284" r:id="rId9"/>
    <p:sldId id="295" r:id="rId10"/>
    <p:sldId id="307" r:id="rId11"/>
    <p:sldId id="308" r:id="rId12"/>
    <p:sldId id="298" r:id="rId13"/>
    <p:sldId id="299" r:id="rId14"/>
    <p:sldId id="300" r:id="rId15"/>
    <p:sldId id="301" r:id="rId16"/>
    <p:sldId id="302" r:id="rId17"/>
    <p:sldId id="303" r:id="rId18"/>
    <p:sldId id="304" r:id="rId19"/>
    <p:sldId id="310" r:id="rId20"/>
    <p:sldId id="309" r:id="rId21"/>
    <p:sldId id="305" r:id="rId22"/>
    <p:sldId id="306" r:id="rId23"/>
    <p:sldId id="311" r:id="rId24"/>
    <p:sldId id="312" r:id="rId25"/>
    <p:sldId id="313" r:id="rId26"/>
    <p:sldId id="314" r:id="rId27"/>
    <p:sldId id="315" r:id="rId28"/>
    <p:sldId id="316" r:id="rId29"/>
    <p:sldId id="317" r:id="rId30"/>
    <p:sldId id="318" r:id="rId31"/>
    <p:sldId id="289"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CF05B9-5359-44AE-86F2-7E201C45E59D}">
          <p14:sldIdLst>
            <p14:sldId id="292"/>
            <p14:sldId id="296"/>
            <p14:sldId id="276"/>
            <p14:sldId id="297"/>
            <p14:sldId id="284"/>
            <p14:sldId id="295"/>
          </p14:sldIdLst>
        </p14:section>
        <p14:section name="Analysis" id="{4F2FE651-E929-42B8-85DA-05245BAB88D0}">
          <p14:sldIdLst>
            <p14:sldId id="307"/>
            <p14:sldId id="308"/>
            <p14:sldId id="298"/>
            <p14:sldId id="299"/>
            <p14:sldId id="300"/>
            <p14:sldId id="301"/>
            <p14:sldId id="302"/>
            <p14:sldId id="303"/>
            <p14:sldId id="304"/>
            <p14:sldId id="310"/>
            <p14:sldId id="309"/>
            <p14:sldId id="305"/>
            <p14:sldId id="306"/>
            <p14:sldId id="311"/>
            <p14:sldId id="312"/>
            <p14:sldId id="313"/>
            <p14:sldId id="314"/>
            <p14:sldId id="315"/>
            <p14:sldId id="316"/>
            <p14:sldId id="317"/>
            <p14:sldId id="318"/>
            <p14:sldId id="289"/>
          </p14:sldIdLst>
        </p14:section>
      </p14:sectionLst>
    </p:ex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96901"/>
    <a:srgbClr val="263E5A"/>
    <a:srgbClr val="FABE79"/>
    <a:srgbClr val="0F253E"/>
    <a:srgbClr val="446992"/>
    <a:srgbClr val="AEC2D8"/>
    <a:srgbClr val="98432A"/>
    <a:srgbClr val="D84400"/>
    <a:srgbClr val="44678D"/>
    <a:srgbClr val="D6E0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7415" autoAdjust="0"/>
  </p:normalViewPr>
  <p:slideViewPr>
    <p:cSldViewPr snapToGrid="0" showGuides="1">
      <p:cViewPr varScale="1">
        <p:scale>
          <a:sx n="48" d="100"/>
          <a:sy n="48" d="100"/>
        </p:scale>
        <p:origin x="400" y="32"/>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8/27/2025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8/27/2025</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Good evening, today I’m going to present my capstone project looking at the scale &amp; impact of the shift to electric vehicles (EVs) among Malaysian drivers. </a:t>
            </a:r>
          </a:p>
          <a:p>
            <a:endParaRPr lang="en-US" dirty="0"/>
          </a:p>
          <a:p>
            <a:r>
              <a:rPr lang="en-US" dirty="0"/>
              <a:t>The Malaysian automobile market has been undergoing rapid transformation, especially now we are seeing a lot more EVs on the road compared to a few years ago. Yet, the actual scale and impact of such a change has not been clear. Therefore, this project seeks to understand the magnitude of the shift to EVs in the Malaysian automobile market and how each player in the market has fared.  </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DBF3159-94EB-4F6B-8273-09F1A6B019E6}" type="slidenum">
              <a:rPr lang="en-US" smtClean="0"/>
              <a:t>2</a:t>
            </a:fld>
            <a:endParaRPr lang="en-US"/>
          </a:p>
        </p:txBody>
      </p:sp>
    </p:spTree>
    <p:extLst>
      <p:ext uri="{BB962C8B-B14F-4D97-AF65-F5344CB8AC3E}">
        <p14:creationId xmlns:p14="http://schemas.microsoft.com/office/powerpoint/2010/main" val="1051084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EV used to be a niche category until when Chinese-branded EVs, led by BYD and Chery entered the Malaysian market in late 2022. Since then, EV adoption has picked up. But to what extent has the adoption been, how has it impacted the different players in the market, and what consumers are thinking when it comes to buying an EV? These are the key questions guiding this project.</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3235818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have been a couple of studies done around this topic. Namely,</a:t>
            </a:r>
          </a:p>
          <a:p>
            <a:pPr marL="228600" indent="-228600">
              <a:buAutoNum type="arabicPeriod"/>
            </a:pPr>
            <a:r>
              <a:rPr lang="en-US" dirty="0"/>
              <a:t>There are studies that identified the key challenges to EV adoption in Malaysia.</a:t>
            </a:r>
          </a:p>
          <a:p>
            <a:pPr marL="228600" indent="-228600">
              <a:buAutoNum type="arabicPeriod"/>
            </a:pPr>
            <a:r>
              <a:rPr lang="en-SG" dirty="0"/>
              <a:t>There have also been studies that identified behavioural factors influencing EV adoption.</a:t>
            </a:r>
          </a:p>
          <a:p>
            <a:pPr marL="228600" indent="-228600">
              <a:buAutoNum type="arabicPeriod"/>
            </a:pPr>
            <a:r>
              <a:rPr lang="en-SG" dirty="0"/>
              <a:t>A study aiming to find out the reasons Malaysia lag behind many developing countries in EV adoption listed negative consumer perceptions to be among the key reasons. The study done in 2022 found that the public was largely sceptical of the value that EVs bring and perceived switching to EV as a risk. </a:t>
            </a:r>
          </a:p>
        </p:txBody>
      </p:sp>
      <p:sp>
        <p:nvSpPr>
          <p:cNvPr id="4" name="Slide Number Placeholder 3"/>
          <p:cNvSpPr>
            <a:spLocks noGrp="1"/>
          </p:cNvSpPr>
          <p:nvPr>
            <p:ph type="sldNum" sz="quarter" idx="5"/>
          </p:nvPr>
        </p:nvSpPr>
        <p:spPr/>
        <p:txBody>
          <a:bodyPr/>
          <a:lstStyle/>
          <a:p>
            <a:fld id="{FDBF3159-94EB-4F6B-8273-09F1A6B019E6}" type="slidenum">
              <a:rPr lang="en-US" smtClean="0"/>
              <a:t>4</a:t>
            </a:fld>
            <a:endParaRPr lang="en-US"/>
          </a:p>
        </p:txBody>
      </p:sp>
    </p:spTree>
    <p:extLst>
      <p:ext uri="{BB962C8B-B14F-4D97-AF65-F5344CB8AC3E}">
        <p14:creationId xmlns:p14="http://schemas.microsoft.com/office/powerpoint/2010/main" val="2114748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This project has four key objectives: </a:t>
            </a:r>
          </a:p>
          <a:p>
            <a:pPr marL="228600" indent="-228600">
              <a:buAutoNum type="arabicPeriod"/>
            </a:pPr>
            <a:r>
              <a:rPr lang="en-US" dirty="0"/>
              <a:t>EV adoption trends: How quickly are Malaysians adopting EV? Any specific car type that EV owners prefer?</a:t>
            </a:r>
          </a:p>
          <a:p>
            <a:pPr marL="228600" indent="-228600">
              <a:buAutoNum type="arabicPeriod"/>
            </a:pPr>
            <a:r>
              <a:rPr lang="en-US" dirty="0"/>
              <a:t>Market share analysis: What’s the percentage of the market captured by EVs? How have Chinese EV brands affected the market share of other EV players?</a:t>
            </a:r>
          </a:p>
          <a:p>
            <a:pPr marL="228600" indent="-228600">
              <a:buAutoNum type="arabicPeriod"/>
            </a:pPr>
            <a:r>
              <a:rPr lang="en-US" dirty="0"/>
              <a:t>Consumer sentiment: What causes a driver to choose to buy an EV or not to buy an EV?</a:t>
            </a:r>
          </a:p>
          <a:p>
            <a:pPr marL="228600" indent="-228600">
              <a:buAutoNum type="arabicPeriod"/>
            </a:pPr>
            <a:r>
              <a:rPr lang="en-US" dirty="0"/>
              <a:t>Price comparison: Is there any difference in the price point that car owners are paying for an EV car versus a petrol car?</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3484497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I carried out this study through three steps:</a:t>
            </a:r>
          </a:p>
          <a:p>
            <a:pPr marL="228600" indent="-228600">
              <a:buAutoNum type="arabicPeriod"/>
            </a:pPr>
            <a:r>
              <a:rPr lang="en-US" dirty="0"/>
              <a:t>Prepared the data by cleaning, transforming it and also performing exploratory analysis.</a:t>
            </a:r>
          </a:p>
          <a:p>
            <a:pPr marL="228600" indent="-228600">
              <a:buAutoNum type="arabicPeriod"/>
            </a:pPr>
            <a:r>
              <a:rPr lang="en-US" dirty="0"/>
              <a:t>Did quantitative analysis: Drew up charts to find out annual trends, market share shifts, and adoption rates for EVs across the years</a:t>
            </a:r>
          </a:p>
          <a:p>
            <a:pPr marL="228600" indent="-228600">
              <a:buAutoNum type="arabicPeriod"/>
            </a:pPr>
            <a:r>
              <a:rPr lang="en-US" dirty="0"/>
              <a:t>Did qualitative analysis: Used </a:t>
            </a:r>
            <a:r>
              <a:rPr lang="en-US" dirty="0" err="1"/>
              <a:t>Wordcloud</a:t>
            </a:r>
            <a:r>
              <a:rPr lang="en-US" dirty="0"/>
              <a:t> to do keyword analysis on Reddit threads to find out the sentiments, perceptions, concerns, and motivations related to EV ownership.</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total number of vehicle registrations in Malaysia increased by 26.28% across the study period — from 678,115 in 2015 to 856,292 in 2024.</a:t>
            </a:r>
            <a:endParaRPr lang="en-SG" dirty="0"/>
          </a:p>
        </p:txBody>
      </p:sp>
      <p:sp>
        <p:nvSpPr>
          <p:cNvPr id="4" name="Slide Number Placeholder 3"/>
          <p:cNvSpPr>
            <a:spLocks noGrp="1"/>
          </p:cNvSpPr>
          <p:nvPr>
            <p:ph type="sldNum" sz="quarter" idx="5"/>
          </p:nvPr>
        </p:nvSpPr>
        <p:spPr/>
        <p:txBody>
          <a:bodyPr/>
          <a:lstStyle/>
          <a:p>
            <a:fld id="{FDBF3159-94EB-4F6B-8273-09F1A6B019E6}" type="slidenum">
              <a:rPr lang="en-US" smtClean="0"/>
              <a:t>8</a:t>
            </a:fld>
            <a:endParaRPr lang="en-US"/>
          </a:p>
        </p:txBody>
      </p:sp>
    </p:spTree>
    <p:extLst>
      <p:ext uri="{BB962C8B-B14F-4D97-AF65-F5344CB8AC3E}">
        <p14:creationId xmlns:p14="http://schemas.microsoft.com/office/powerpoint/2010/main" val="1662172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Among EVs, </a:t>
            </a:r>
            <a:r>
              <a:rPr lang="en-US" sz="1200" b="1" i="0" u="none" strike="noStrike" kern="1200" dirty="0">
                <a:solidFill>
                  <a:schemeClr val="tx1"/>
                </a:solidFill>
                <a:effectLst/>
                <a:latin typeface="+mn-lt"/>
                <a:ea typeface="+mn-ea"/>
                <a:cs typeface="+mn-cs"/>
              </a:rPr>
              <a:t>sedans</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SUVs</a:t>
            </a:r>
            <a:r>
              <a:rPr lang="en-US" sz="1200" b="0" i="0" u="none" strike="noStrike" kern="1200" dirty="0">
                <a:solidFill>
                  <a:schemeClr val="tx1"/>
                </a:solidFill>
                <a:effectLst/>
                <a:latin typeface="+mn-lt"/>
                <a:ea typeface="+mn-ea"/>
                <a:cs typeface="+mn-cs"/>
              </a:rPr>
              <a:t> remain the most popular choices. As of 2025, the market shows a clear shift </a:t>
            </a:r>
            <a:r>
              <a:rPr lang="en-US" sz="1200" b="1" i="0" u="none" strike="noStrike" kern="1200" dirty="0">
                <a:solidFill>
                  <a:schemeClr val="tx1"/>
                </a:solidFill>
                <a:effectLst/>
                <a:latin typeface="+mn-lt"/>
                <a:ea typeface="+mn-ea"/>
                <a:cs typeface="+mn-cs"/>
              </a:rPr>
              <a:t>towards SUVs</a:t>
            </a:r>
            <a:r>
              <a:rPr lang="en-US" sz="1200" b="0" i="0" u="none" strike="noStrike" kern="1200" dirty="0">
                <a:solidFill>
                  <a:schemeClr val="tx1"/>
                </a:solidFill>
                <a:effectLst/>
                <a:latin typeface="+mn-lt"/>
                <a:ea typeface="+mn-ea"/>
                <a:cs typeface="+mn-cs"/>
              </a:rPr>
              <a:t>, which account for 60.25% of EV registrations, compared to 26.81% for sedans. </a:t>
            </a:r>
            <a:endParaRPr lang="en-SG"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i="0" kern="1200" dirty="0">
                <a:solidFill>
                  <a:schemeClr val="tx1"/>
                </a:solidFill>
                <a:effectLst/>
                <a:latin typeface="+mn-lt"/>
                <a:ea typeface="+mn-ea"/>
                <a:cs typeface="+mn-cs"/>
              </a:rPr>
              <a:t>Definition</a:t>
            </a:r>
            <a:br>
              <a:rPr lang="en-SG" sz="1800" dirty="0"/>
            </a:br>
            <a:r>
              <a:rPr lang="en-SG" sz="1200" b="0" i="0" kern="1200" dirty="0">
                <a:solidFill>
                  <a:schemeClr val="tx1"/>
                </a:solidFill>
                <a:effectLst/>
                <a:latin typeface="+mn-lt"/>
                <a:ea typeface="+mn-ea"/>
                <a:cs typeface="+mn-cs"/>
              </a:rPr>
              <a:t>Sedan: Like Honda Civic, </a:t>
            </a:r>
            <a:r>
              <a:rPr lang="en-SG" sz="1200" b="0" i="0" kern="1200" dirty="0" err="1">
                <a:solidFill>
                  <a:schemeClr val="tx1"/>
                </a:solidFill>
                <a:effectLst/>
                <a:latin typeface="+mn-lt"/>
                <a:ea typeface="+mn-ea"/>
                <a:cs typeface="+mn-cs"/>
              </a:rPr>
              <a:t>Myvi</a:t>
            </a:r>
            <a:br>
              <a:rPr lang="en-SG" sz="1800" dirty="0"/>
            </a:br>
            <a:r>
              <a:rPr lang="en-SG" sz="1200" b="0" i="0" kern="1200" dirty="0">
                <a:solidFill>
                  <a:schemeClr val="tx1"/>
                </a:solidFill>
                <a:effectLst/>
                <a:latin typeface="+mn-lt"/>
                <a:ea typeface="+mn-ea"/>
                <a:cs typeface="+mn-cs"/>
              </a:rPr>
              <a:t>SUV: Like Honda CRV, Atto 3</a:t>
            </a:r>
            <a:br>
              <a:rPr lang="en-SG" sz="1800" dirty="0"/>
            </a:br>
            <a:r>
              <a:rPr lang="en-SG" sz="1200" b="0" i="0" kern="1200" dirty="0">
                <a:solidFill>
                  <a:schemeClr val="tx1"/>
                </a:solidFill>
                <a:effectLst/>
                <a:latin typeface="+mn-lt"/>
                <a:ea typeface="+mn-ea"/>
                <a:cs typeface="+mn-cs"/>
              </a:rPr>
              <a:t>MPV: Multi-purpose-vehicle, like Alza, Innova</a:t>
            </a:r>
            <a:br>
              <a:rPr lang="en-SG" sz="1800" dirty="0"/>
            </a:br>
            <a:r>
              <a:rPr lang="en-SG" sz="1200" b="0" i="0" kern="1200" dirty="0">
                <a:solidFill>
                  <a:schemeClr val="tx1"/>
                </a:solidFill>
                <a:effectLst/>
                <a:latin typeface="+mn-lt"/>
                <a:ea typeface="+mn-ea"/>
                <a:cs typeface="+mn-cs"/>
              </a:rPr>
              <a:t>Pick-up: Like Hilux</a:t>
            </a:r>
            <a:br>
              <a:rPr lang="en-SG" sz="1800" dirty="0"/>
            </a:br>
            <a:r>
              <a:rPr lang="en-SG" sz="1200" b="0" i="0" kern="1200" dirty="0">
                <a:solidFill>
                  <a:schemeClr val="tx1"/>
                </a:solidFill>
                <a:effectLst/>
                <a:latin typeface="+mn-lt"/>
                <a:ea typeface="+mn-ea"/>
                <a:cs typeface="+mn-cs"/>
              </a:rPr>
              <a:t>Window Van: Like Alphard, </a:t>
            </a:r>
            <a:r>
              <a:rPr lang="en-SG" sz="1200" b="0" i="0" kern="1200" dirty="0" err="1">
                <a:solidFill>
                  <a:schemeClr val="tx1"/>
                </a:solidFill>
                <a:effectLst/>
                <a:latin typeface="+mn-lt"/>
                <a:ea typeface="+mn-ea"/>
                <a:cs typeface="+mn-cs"/>
              </a:rPr>
              <a:t>Vellfire</a:t>
            </a:r>
            <a:r>
              <a:rPr lang="en-SG" sz="1200" b="0" i="0" kern="1200" dirty="0">
                <a:solidFill>
                  <a:schemeClr val="tx1"/>
                </a:solidFill>
                <a:effectLst/>
                <a:latin typeface="+mn-lt"/>
                <a:ea typeface="+mn-ea"/>
                <a:cs typeface="+mn-cs"/>
              </a:rPr>
              <a:t>, Serena</a:t>
            </a:r>
          </a:p>
          <a:p>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DBF3159-94EB-4F6B-8273-09F1A6B019E6}" type="slidenum">
              <a:rPr lang="en-US" smtClean="0"/>
              <a:t>9</a:t>
            </a:fld>
            <a:endParaRPr lang="en-US"/>
          </a:p>
        </p:txBody>
      </p:sp>
    </p:spTree>
    <p:extLst>
      <p:ext uri="{BB962C8B-B14F-4D97-AF65-F5344CB8AC3E}">
        <p14:creationId xmlns:p14="http://schemas.microsoft.com/office/powerpoint/2010/main" val="2409127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When viewed by fuel type, </a:t>
            </a:r>
            <a:r>
              <a:rPr lang="en-US" sz="1200" b="1" i="0" u="none" strike="noStrike" kern="1200" dirty="0">
                <a:solidFill>
                  <a:schemeClr val="tx1"/>
                </a:solidFill>
                <a:effectLst/>
                <a:latin typeface="+mn-lt"/>
                <a:ea typeface="+mn-ea"/>
                <a:cs typeface="+mn-cs"/>
              </a:rPr>
              <a:t>EVs</a:t>
            </a:r>
            <a:r>
              <a:rPr lang="en-US" sz="1200" b="0" i="0" u="none" strike="noStrike" kern="1200" dirty="0">
                <a:solidFill>
                  <a:schemeClr val="tx1"/>
                </a:solidFill>
                <a:effectLst/>
                <a:latin typeface="+mn-lt"/>
                <a:ea typeface="+mn-ea"/>
                <a:cs typeface="+mn-cs"/>
              </a:rPr>
              <a:t> have experienced the sharpest growth — rising from a negligible 0.01% market share in 2015 to 4.32% in 2025. Notably, this surge only began after 2020, as the market share remained below 0.01% between 2015 and 2020, before gaining momentum in early 2020.</a:t>
            </a:r>
            <a:endParaRPr lang="en-SG" sz="1800" kern="1200" dirty="0">
              <a:solidFill>
                <a:schemeClr val="lt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Greendiesel</a:t>
            </a:r>
            <a:r>
              <a:rPr lang="en-US" sz="1200" b="0" i="0" kern="1200" dirty="0">
                <a:solidFill>
                  <a:schemeClr val="tx1"/>
                </a:solidFill>
                <a:effectLst/>
                <a:latin typeface="+mn-lt"/>
                <a:ea typeface="+mn-ea"/>
                <a:cs typeface="+mn-cs"/>
              </a:rPr>
              <a:t>: A second-generation biofuel produced by deoxygenation of renewable feedstocks like vegetable oils and waste cooking oil, which offers a lower-emission alternative to petroleum diesel with similar properties.</a:t>
            </a:r>
          </a:p>
        </p:txBody>
      </p:sp>
      <p:sp>
        <p:nvSpPr>
          <p:cNvPr id="4" name="Slide Number Placeholder 3"/>
          <p:cNvSpPr>
            <a:spLocks noGrp="1"/>
          </p:cNvSpPr>
          <p:nvPr>
            <p:ph type="sldNum" sz="quarter" idx="5"/>
          </p:nvPr>
        </p:nvSpPr>
        <p:spPr/>
        <p:txBody>
          <a:bodyPr/>
          <a:lstStyle/>
          <a:p>
            <a:fld id="{FDBF3159-94EB-4F6B-8273-09F1A6B019E6}" type="slidenum">
              <a:rPr lang="en-US" smtClean="0"/>
              <a:t>10</a:t>
            </a:fld>
            <a:endParaRPr lang="en-US"/>
          </a:p>
        </p:txBody>
      </p:sp>
    </p:spTree>
    <p:extLst>
      <p:ext uri="{BB962C8B-B14F-4D97-AF65-F5344CB8AC3E}">
        <p14:creationId xmlns:p14="http://schemas.microsoft.com/office/powerpoint/2010/main" val="3906557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5A089-2F30-89FA-02AD-D78892638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C60245-0EF8-AA08-E257-4F239D7A0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8A8C1-257E-CD71-4329-CE78E1BE12C6}"/>
              </a:ext>
            </a:extLst>
          </p:cNvPr>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EV market has undergone significant shifts in brand dominance. In 2015, </a:t>
            </a:r>
            <a:r>
              <a:rPr lang="en-US" sz="1200" b="1" i="0" u="none" strike="noStrike" kern="1200" dirty="0">
                <a:solidFill>
                  <a:schemeClr val="tx1"/>
                </a:solidFill>
                <a:effectLst/>
                <a:latin typeface="+mn-lt"/>
                <a:ea typeface="+mn-ea"/>
                <a:cs typeface="+mn-cs"/>
              </a:rPr>
              <a:t>Renault</a:t>
            </a:r>
            <a:r>
              <a:rPr lang="en-US" sz="1200" b="0" i="0" u="none" strike="noStrike" kern="1200" dirty="0">
                <a:solidFill>
                  <a:schemeClr val="tx1"/>
                </a:solidFill>
                <a:effectLst/>
                <a:latin typeface="+mn-lt"/>
                <a:ea typeface="+mn-ea"/>
                <a:cs typeface="+mn-cs"/>
              </a:rPr>
              <a:t> held a commanding 81.82% share of Malaysia’s small EV market (just 45 units sold). However, by 2025, Renault had exited the EV market in Malaysia. Early leaders such as </a:t>
            </a:r>
            <a:r>
              <a:rPr lang="en-US" sz="1200" b="1" i="0" u="none" strike="noStrike" kern="1200" dirty="0">
                <a:solidFill>
                  <a:schemeClr val="tx1"/>
                </a:solidFill>
                <a:effectLst/>
                <a:latin typeface="+mn-lt"/>
                <a:ea typeface="+mn-ea"/>
                <a:cs typeface="+mn-cs"/>
              </a:rPr>
              <a:t>Nissan and Porsche </a:t>
            </a:r>
            <a:r>
              <a:rPr lang="en-US" sz="1200" b="0" i="0" u="none" strike="noStrike" kern="1200" dirty="0">
                <a:solidFill>
                  <a:schemeClr val="tx1"/>
                </a:solidFill>
                <a:effectLst/>
                <a:latin typeface="+mn-lt"/>
                <a:ea typeface="+mn-ea"/>
                <a:cs typeface="+mn-cs"/>
              </a:rPr>
              <a:t>also saw steep declines — Nissan’s share fell from 72.73% in 2019 to 0.02% in 2025, while Porsche’s dropped from 69.65% in 2021 to 2.09% in 2025.</a:t>
            </a:r>
            <a:r>
              <a:rPr lang="en-SG" sz="1800" b="0" i="0" u="none" strike="noStrike" kern="1200" dirty="0">
                <a:solidFill>
                  <a:schemeClr val="lt1"/>
                </a:solidFill>
                <a:effectLst/>
                <a:latin typeface="+mn-lt"/>
                <a:ea typeface="+mn-ea"/>
                <a:cs typeface="+mn-cs"/>
              </a:rPr>
              <a:t> The EV market in 2025 is dominated by </a:t>
            </a:r>
            <a:r>
              <a:rPr lang="en-SG" sz="1800" b="1" i="0" u="none" strike="noStrike" kern="1200" dirty="0">
                <a:solidFill>
                  <a:schemeClr val="lt1"/>
                </a:solidFill>
                <a:effectLst/>
                <a:latin typeface="+mn-lt"/>
                <a:ea typeface="+mn-ea"/>
                <a:cs typeface="+mn-cs"/>
              </a:rPr>
              <a:t>BYD and Proton</a:t>
            </a:r>
            <a:r>
              <a:rPr lang="en-SG" sz="1800" b="0" i="0" u="none" strike="noStrike" kern="1200" dirty="0">
                <a:solidFill>
                  <a:schemeClr val="lt1"/>
                </a:solidFill>
                <a:effectLst/>
                <a:latin typeface="+mn-lt"/>
                <a:ea typeface="+mn-ea"/>
                <a:cs typeface="+mn-cs"/>
              </a:rPr>
              <a:t>, both of whom make up over half of the market share.</a:t>
            </a:r>
            <a:endParaRPr lang="en-US" sz="1800" b="0" dirty="0">
              <a:effectLst/>
            </a:endParaRPr>
          </a:p>
        </p:txBody>
      </p:sp>
      <p:sp>
        <p:nvSpPr>
          <p:cNvPr id="4" name="Slide Number Placeholder 3">
            <a:extLst>
              <a:ext uri="{FF2B5EF4-FFF2-40B4-BE49-F238E27FC236}">
                <a16:creationId xmlns:a16="http://schemas.microsoft.com/office/drawing/2014/main" id="{7ABB5CD5-9EF8-1D11-89AE-7AA849FC6B58}"/>
              </a:ext>
            </a:extLst>
          </p:cNvPr>
          <p:cNvSpPr>
            <a:spLocks noGrp="1"/>
          </p:cNvSpPr>
          <p:nvPr>
            <p:ph type="sldNum" sz="quarter" idx="5"/>
          </p:nvPr>
        </p:nvSpPr>
        <p:spPr/>
        <p:txBody>
          <a:bodyPr/>
          <a:lstStyle/>
          <a:p>
            <a:fld id="{FDBF3159-94EB-4F6B-8273-09F1A6B019E6}" type="slidenum">
              <a:rPr lang="en-US" smtClean="0"/>
              <a:t>11</a:t>
            </a:fld>
            <a:endParaRPr lang="en-US"/>
          </a:p>
        </p:txBody>
      </p:sp>
    </p:spTree>
    <p:extLst>
      <p:ext uri="{BB962C8B-B14F-4D97-AF65-F5344CB8AC3E}">
        <p14:creationId xmlns:p14="http://schemas.microsoft.com/office/powerpoint/2010/main" val="3313397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6FACD-5437-04B2-F3AA-5A865CF859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9FA70-0EDA-A14E-4332-FCEF5FE1E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E0B094-F2E9-D35A-CA99-81E09AF7EE7F}"/>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In terms of individual models, the </a:t>
            </a:r>
            <a:r>
              <a:rPr lang="en-US" sz="1200" b="1" i="0" u="none" strike="noStrike" kern="1200" dirty="0">
                <a:solidFill>
                  <a:schemeClr val="tx1"/>
                </a:solidFill>
                <a:effectLst/>
                <a:latin typeface="+mn-lt"/>
                <a:ea typeface="+mn-ea"/>
                <a:cs typeface="+mn-cs"/>
              </a:rPr>
              <a:t>BYD Atto 3 </a:t>
            </a:r>
            <a:r>
              <a:rPr lang="en-US" sz="1200" b="0" i="0" u="none" strike="noStrike" kern="1200" dirty="0">
                <a:solidFill>
                  <a:schemeClr val="tx1"/>
                </a:solidFill>
                <a:effectLst/>
                <a:latin typeface="+mn-lt"/>
                <a:ea typeface="+mn-ea"/>
                <a:cs typeface="+mn-cs"/>
              </a:rPr>
              <a:t>led in sales volume from its Malaysian debut until December 2024. That changed with the launch of the </a:t>
            </a:r>
            <a:r>
              <a:rPr lang="en-US" sz="1200" b="1" i="0" u="none" strike="noStrike" kern="1200" dirty="0">
                <a:solidFill>
                  <a:schemeClr val="tx1"/>
                </a:solidFill>
                <a:effectLst/>
                <a:latin typeface="+mn-lt"/>
                <a:ea typeface="+mn-ea"/>
                <a:cs typeface="+mn-cs"/>
              </a:rPr>
              <a:t>Proton </a:t>
            </a:r>
            <a:r>
              <a:rPr lang="en-US" sz="1200" b="1" i="0" u="none" strike="noStrike" kern="1200" dirty="0" err="1">
                <a:solidFill>
                  <a:schemeClr val="tx1"/>
                </a:solidFill>
                <a:effectLst/>
                <a:latin typeface="+mn-lt"/>
                <a:ea typeface="+mn-ea"/>
                <a:cs typeface="+mn-cs"/>
              </a:rPr>
              <a:t>e.MAS</a:t>
            </a:r>
            <a:r>
              <a:rPr lang="en-US" sz="1200" b="1" i="0" u="none" strike="noStrike" kern="1200" dirty="0">
                <a:solidFill>
                  <a:schemeClr val="tx1"/>
                </a:solidFill>
                <a:effectLst/>
                <a:latin typeface="+mn-lt"/>
                <a:ea typeface="+mn-ea"/>
                <a:cs typeface="+mn-cs"/>
              </a:rPr>
              <a:t> 7</a:t>
            </a:r>
            <a:r>
              <a:rPr lang="en-US" sz="1200" b="0" i="0" u="none" strike="noStrike" kern="1200" dirty="0">
                <a:solidFill>
                  <a:schemeClr val="tx1"/>
                </a:solidFill>
                <a:effectLst/>
                <a:latin typeface="+mn-lt"/>
                <a:ea typeface="+mn-ea"/>
                <a:cs typeface="+mn-cs"/>
              </a:rPr>
              <a:t>, which quickly rose to become the best-selling EV in 2025, registering 4,003 units (23.35% of the market share). It is followed by the BYD Atto 3 (1,701 units, 9.92%) and the Tesla Model Y (1,571 units, 9.16%).</a:t>
            </a:r>
            <a:endParaRPr lang="en-SG" sz="1800" b="1" u="none" kern="1200" dirty="0">
              <a:solidFill>
                <a:schemeClr val="lt1"/>
              </a:solidFill>
              <a:latin typeface="+mn-lt"/>
              <a:ea typeface="+mn-ea"/>
              <a:cs typeface="+mn-cs"/>
            </a:endParaRPr>
          </a:p>
        </p:txBody>
      </p:sp>
      <p:sp>
        <p:nvSpPr>
          <p:cNvPr id="4" name="Slide Number Placeholder 3">
            <a:extLst>
              <a:ext uri="{FF2B5EF4-FFF2-40B4-BE49-F238E27FC236}">
                <a16:creationId xmlns:a16="http://schemas.microsoft.com/office/drawing/2014/main" id="{526E04C5-AFE6-2845-CCFD-8B9CD0F426D3}"/>
              </a:ext>
            </a:extLst>
          </p:cNvPr>
          <p:cNvSpPr>
            <a:spLocks noGrp="1"/>
          </p:cNvSpPr>
          <p:nvPr>
            <p:ph type="sldNum" sz="quarter" idx="5"/>
          </p:nvPr>
        </p:nvSpPr>
        <p:spPr/>
        <p:txBody>
          <a:bodyPr/>
          <a:lstStyle/>
          <a:p>
            <a:fld id="{FDBF3159-94EB-4F6B-8273-09F1A6B019E6}" type="slidenum">
              <a:rPr lang="en-US" smtClean="0"/>
              <a:t>12</a:t>
            </a:fld>
            <a:endParaRPr lang="en-US"/>
          </a:p>
        </p:txBody>
      </p:sp>
    </p:spTree>
    <p:extLst>
      <p:ext uri="{BB962C8B-B14F-4D97-AF65-F5344CB8AC3E}">
        <p14:creationId xmlns:p14="http://schemas.microsoft.com/office/powerpoint/2010/main" val="136377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DE0B1-E9CA-0D41-A3A7-164807A04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56FF2-37BD-6202-14BA-1EC746F360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9EF0A3-2ABB-1BBA-AD55-A800950F9883}"/>
              </a:ext>
            </a:extLst>
          </p:cNvPr>
          <p:cNvSpPr>
            <a:spLocks noGrp="1"/>
          </p:cNvSpPr>
          <p:nvPr>
            <p:ph type="body" idx="1"/>
          </p:nvPr>
        </p:nvSpPr>
        <p:spPr/>
        <p:txBody>
          <a:bodyPr/>
          <a:lstStyle/>
          <a:p>
            <a:pPr rtl="0"/>
            <a:r>
              <a:rPr lang="en-US" sz="1200" b="1" i="0" u="none" strike="noStrike" kern="1200" dirty="0">
                <a:solidFill>
                  <a:schemeClr val="tx1"/>
                </a:solidFill>
                <a:effectLst/>
                <a:latin typeface="+mn-lt"/>
                <a:ea typeface="+mn-ea"/>
                <a:cs typeface="+mn-cs"/>
              </a:rPr>
              <a:t>Foreign EV brands </a:t>
            </a:r>
            <a:r>
              <a:rPr lang="en-US" sz="1200" b="0" i="0" u="none" strike="noStrike" kern="1200" dirty="0">
                <a:solidFill>
                  <a:schemeClr val="tx1"/>
                </a:solidFill>
                <a:effectLst/>
                <a:latin typeface="+mn-lt"/>
                <a:ea typeface="+mn-ea"/>
                <a:cs typeface="+mn-cs"/>
              </a:rPr>
              <a:t>— including </a:t>
            </a:r>
            <a:r>
              <a:rPr lang="en-US" sz="1200" b="0" i="0" u="sng" strike="noStrike" kern="1200" dirty="0">
                <a:solidFill>
                  <a:schemeClr val="tx1"/>
                </a:solidFill>
                <a:effectLst/>
                <a:latin typeface="+mn-lt"/>
                <a:ea typeface="+mn-ea"/>
                <a:cs typeface="+mn-cs"/>
              </a:rPr>
              <a:t>Tesla, Renault, and Nissan </a:t>
            </a:r>
            <a:r>
              <a:rPr lang="en-US" sz="1200" b="0" i="0" u="none" strike="noStrike" kern="1200" dirty="0">
                <a:solidFill>
                  <a:schemeClr val="tx1"/>
                </a:solidFill>
                <a:effectLst/>
                <a:latin typeface="+mn-lt"/>
                <a:ea typeface="+mn-ea"/>
                <a:cs typeface="+mn-cs"/>
              </a:rPr>
              <a:t>— were the early frontrunners in Malaysia’s emerging EV market. This landscape shifted dramatically in late 2022 with the arrival of </a:t>
            </a:r>
            <a:r>
              <a:rPr lang="en-US" sz="1200" b="1" i="0" u="none" strike="noStrike" kern="1200" dirty="0">
                <a:solidFill>
                  <a:schemeClr val="tx1"/>
                </a:solidFill>
                <a:effectLst/>
                <a:latin typeface="+mn-lt"/>
                <a:ea typeface="+mn-ea"/>
                <a:cs typeface="+mn-cs"/>
              </a:rPr>
              <a:t>Chinese brands </a:t>
            </a:r>
            <a:r>
              <a:rPr lang="en-US" sz="1200" b="0" i="0" u="none" strike="noStrike" kern="1200" dirty="0">
                <a:solidFill>
                  <a:schemeClr val="tx1"/>
                </a:solidFill>
                <a:effectLst/>
                <a:latin typeface="+mn-lt"/>
                <a:ea typeface="+mn-ea"/>
                <a:cs typeface="+mn-cs"/>
              </a:rPr>
              <a:t>such as </a:t>
            </a:r>
            <a:r>
              <a:rPr lang="en-US" sz="1200" b="0" i="0" u="sng" strike="noStrike" kern="1200" dirty="0">
                <a:solidFill>
                  <a:schemeClr val="tx1"/>
                </a:solidFill>
                <a:effectLst/>
                <a:latin typeface="+mn-lt"/>
                <a:ea typeface="+mn-ea"/>
                <a:cs typeface="+mn-cs"/>
              </a:rPr>
              <a:t>BYD and Chery</a:t>
            </a:r>
            <a:r>
              <a:rPr lang="en-US" sz="1200" b="0" i="0" u="none" strike="noStrike" kern="1200" dirty="0">
                <a:solidFill>
                  <a:schemeClr val="tx1"/>
                </a:solidFill>
                <a:effectLst/>
                <a:latin typeface="+mn-lt"/>
                <a:ea typeface="+mn-ea"/>
                <a:cs typeface="+mn-cs"/>
              </a:rPr>
              <a:t>. By 2023, Chinese brands had overtaken their foreign counterparts.</a:t>
            </a:r>
            <a:endParaRPr lang="en-US" b="0" dirty="0">
              <a:effectLst/>
            </a:endParaRPr>
          </a:p>
          <a:p>
            <a:pPr rtl="0"/>
            <a:br>
              <a:rPr lang="en-US" b="0" dirty="0">
                <a:effectLst/>
              </a:rPr>
            </a:br>
            <a:r>
              <a:rPr lang="en-US" sz="1200" b="0" i="0" u="none" strike="noStrike" kern="1200" dirty="0">
                <a:solidFill>
                  <a:schemeClr val="tx1"/>
                </a:solidFill>
                <a:effectLst/>
                <a:latin typeface="+mn-lt"/>
                <a:ea typeface="+mn-ea"/>
                <a:cs typeface="+mn-cs"/>
              </a:rPr>
              <a:t>Participation of local EV brands in the EV market gained momentum with the launch of the Proton </a:t>
            </a:r>
            <a:r>
              <a:rPr lang="en-US" sz="1200" b="0" i="0" u="none" strike="noStrike" kern="1200" dirty="0" err="1">
                <a:solidFill>
                  <a:schemeClr val="tx1"/>
                </a:solidFill>
                <a:effectLst/>
                <a:latin typeface="+mn-lt"/>
                <a:ea typeface="+mn-ea"/>
                <a:cs typeface="+mn-cs"/>
              </a:rPr>
              <a:t>eMAS</a:t>
            </a:r>
            <a:r>
              <a:rPr lang="en-US" sz="1200" b="0" i="0" u="none" strike="noStrike" kern="1200" dirty="0">
                <a:solidFill>
                  <a:schemeClr val="tx1"/>
                </a:solidFill>
                <a:effectLst/>
                <a:latin typeface="+mn-lt"/>
                <a:ea typeface="+mn-ea"/>
                <a:cs typeface="+mn-cs"/>
              </a:rPr>
              <a:t> 7 in December 2024. As Malaysia’s first domestically produced EV model, it made an immediate impact, selling 4,003 units within just six months of release — a performance that positioned it as a key player in the Malaysian EV market.</a:t>
            </a:r>
            <a:endParaRPr lang="en-US" b="0" dirty="0">
              <a:effectLst/>
            </a:endParaRPr>
          </a:p>
          <a:p>
            <a:br>
              <a:rPr lang="en-US" dirty="0"/>
            </a:br>
            <a:endParaRPr lang="en-SG" sz="1800" u="none" kern="1200" dirty="0">
              <a:solidFill>
                <a:schemeClr val="lt1"/>
              </a:solidFill>
              <a:latin typeface="+mn-lt"/>
              <a:ea typeface="+mn-ea"/>
              <a:cs typeface="+mn-cs"/>
            </a:endParaRPr>
          </a:p>
        </p:txBody>
      </p:sp>
      <p:sp>
        <p:nvSpPr>
          <p:cNvPr id="4" name="Slide Number Placeholder 3">
            <a:extLst>
              <a:ext uri="{FF2B5EF4-FFF2-40B4-BE49-F238E27FC236}">
                <a16:creationId xmlns:a16="http://schemas.microsoft.com/office/drawing/2014/main" id="{59A28142-E09E-8DE4-D7C3-8FAACCA717D8}"/>
              </a:ext>
            </a:extLst>
          </p:cNvPr>
          <p:cNvSpPr>
            <a:spLocks noGrp="1"/>
          </p:cNvSpPr>
          <p:nvPr>
            <p:ph type="sldNum" sz="quarter" idx="5"/>
          </p:nvPr>
        </p:nvSpPr>
        <p:spPr/>
        <p:txBody>
          <a:bodyPr/>
          <a:lstStyle/>
          <a:p>
            <a:fld id="{FDBF3159-94EB-4F6B-8273-09F1A6B019E6}" type="slidenum">
              <a:rPr lang="en-US" smtClean="0"/>
              <a:t>13</a:t>
            </a:fld>
            <a:endParaRPr lang="en-US"/>
          </a:p>
        </p:txBody>
      </p:sp>
    </p:spTree>
    <p:extLst>
      <p:ext uri="{BB962C8B-B14F-4D97-AF65-F5344CB8AC3E}">
        <p14:creationId xmlns:p14="http://schemas.microsoft.com/office/powerpoint/2010/main" val="1561754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21675-6A73-59BE-7958-3E37416306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35D3E-93F9-7B63-CF91-114F06828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26DC2-6B22-6BBF-A56C-EB921CE9B8F1}"/>
              </a:ext>
            </a:extLst>
          </p:cNvPr>
          <p:cNvSpPr>
            <a:spLocks noGrp="1"/>
          </p:cNvSpPr>
          <p:nvPr>
            <p:ph type="body" idx="1"/>
          </p:nvPr>
        </p:nvSpPr>
        <p:spPr/>
        <p:txBody>
          <a:bodyPr/>
          <a:lstStyle/>
          <a:p>
            <a:pPr rtl="0"/>
            <a:r>
              <a:rPr lang="en-US" dirty="0"/>
              <a:t>To compare the price points of EVs and petrol cars, I calculated the weighted median price of the top 10 models in both categories.</a:t>
            </a:r>
          </a:p>
          <a:p>
            <a:pPr rtl="0"/>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Weighted median price among the top 10 petrol models: </a:t>
            </a:r>
            <a:r>
              <a:rPr lang="en-US" sz="1200" b="1" i="0" u="none" strike="noStrike" kern="1200" dirty="0">
                <a:solidFill>
                  <a:schemeClr val="tx1"/>
                </a:solidFill>
                <a:effectLst/>
                <a:latin typeface="+mn-lt"/>
                <a:ea typeface="+mn-ea"/>
                <a:cs typeface="+mn-cs"/>
              </a:rPr>
              <a:t>RM 44,600.00</a:t>
            </a:r>
            <a:endParaRPr lang="en-US" b="0" dirty="0">
              <a:effectLst/>
            </a:endParaRPr>
          </a:p>
          <a:p>
            <a:br>
              <a:rPr lang="en-US" dirty="0"/>
            </a:br>
            <a:endParaRPr lang="en-SG" sz="1800" u="none" kern="1200" dirty="0">
              <a:solidFill>
                <a:schemeClr val="lt1"/>
              </a:solidFill>
              <a:latin typeface="+mn-lt"/>
              <a:ea typeface="+mn-ea"/>
              <a:cs typeface="+mn-cs"/>
            </a:endParaRPr>
          </a:p>
        </p:txBody>
      </p:sp>
      <p:sp>
        <p:nvSpPr>
          <p:cNvPr id="4" name="Slide Number Placeholder 3">
            <a:extLst>
              <a:ext uri="{FF2B5EF4-FFF2-40B4-BE49-F238E27FC236}">
                <a16:creationId xmlns:a16="http://schemas.microsoft.com/office/drawing/2014/main" id="{7531B0AE-EF79-0712-7439-F816396ABCC3}"/>
              </a:ext>
            </a:extLst>
          </p:cNvPr>
          <p:cNvSpPr>
            <a:spLocks noGrp="1"/>
          </p:cNvSpPr>
          <p:nvPr>
            <p:ph type="sldNum" sz="quarter" idx="5"/>
          </p:nvPr>
        </p:nvSpPr>
        <p:spPr/>
        <p:txBody>
          <a:bodyPr/>
          <a:lstStyle/>
          <a:p>
            <a:fld id="{FDBF3159-94EB-4F6B-8273-09F1A6B019E6}" type="slidenum">
              <a:rPr lang="en-US" smtClean="0"/>
              <a:t>14</a:t>
            </a:fld>
            <a:endParaRPr lang="en-US"/>
          </a:p>
        </p:txBody>
      </p:sp>
    </p:spTree>
    <p:extLst>
      <p:ext uri="{BB962C8B-B14F-4D97-AF65-F5344CB8AC3E}">
        <p14:creationId xmlns:p14="http://schemas.microsoft.com/office/powerpoint/2010/main" val="1888027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E20B7-ECD6-D873-147D-4399C25FC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3263A-AE07-7F0A-581B-BD7617736A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6E0A3A-29CE-01BB-90BB-12E0C5F4A3CD}"/>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Weighted median price among top 10 EV models:</a:t>
            </a:r>
            <a:r>
              <a:rPr lang="en-US" sz="1200" b="1" i="0" u="none" strike="noStrike" kern="1200" dirty="0">
                <a:solidFill>
                  <a:schemeClr val="tx1"/>
                </a:solidFill>
                <a:effectLst/>
                <a:latin typeface="+mn-lt"/>
                <a:ea typeface="+mn-ea"/>
                <a:cs typeface="+mn-cs"/>
              </a:rPr>
              <a:t> RM 189,000.00</a:t>
            </a:r>
            <a:r>
              <a:rPr lang="en-US" sz="1200" b="0" i="0" u="none" strike="noStrike" kern="1200" dirty="0">
                <a:solidFill>
                  <a:schemeClr val="tx1"/>
                </a:solidFill>
                <a:effectLst/>
                <a:latin typeface="+mn-lt"/>
                <a:ea typeface="+mn-ea"/>
                <a:cs typeface="+mn-cs"/>
              </a:rPr>
              <a:t>. </a:t>
            </a:r>
          </a:p>
          <a:p>
            <a:r>
              <a:rPr lang="en-US" sz="1200" b="0" i="0" u="none" strike="noStrike" kern="1200" dirty="0">
                <a:solidFill>
                  <a:schemeClr val="tx1"/>
                </a:solidFill>
                <a:effectLst/>
                <a:latin typeface="+mn-lt"/>
                <a:ea typeface="+mn-ea"/>
                <a:cs typeface="+mn-cs"/>
              </a:rPr>
              <a:t>- </a:t>
            </a:r>
            <a:r>
              <a:rPr lang="en-US" dirty="0"/>
              <a:t>This comparison shows that, as of 2025, EVs are still priced primarily for the </a:t>
            </a:r>
            <a:r>
              <a:rPr lang="en-US" b="1" dirty="0"/>
              <a:t>higher-income segment</a:t>
            </a:r>
            <a:r>
              <a:rPr lang="en-US" dirty="0"/>
              <a:t>.</a:t>
            </a:r>
            <a:endParaRPr lang="en-US"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FCA54DA-5824-B688-6CB3-5D4112FEC345}"/>
              </a:ext>
            </a:extLst>
          </p:cNvPr>
          <p:cNvSpPr>
            <a:spLocks noGrp="1"/>
          </p:cNvSpPr>
          <p:nvPr>
            <p:ph type="sldNum" sz="quarter" idx="5"/>
          </p:nvPr>
        </p:nvSpPr>
        <p:spPr/>
        <p:txBody>
          <a:bodyPr/>
          <a:lstStyle/>
          <a:p>
            <a:fld id="{FDBF3159-94EB-4F6B-8273-09F1A6B019E6}" type="slidenum">
              <a:rPr lang="en-US" smtClean="0"/>
              <a:t>15</a:t>
            </a:fld>
            <a:endParaRPr lang="en-US"/>
          </a:p>
        </p:txBody>
      </p:sp>
    </p:spTree>
    <p:extLst>
      <p:ext uri="{BB962C8B-B14F-4D97-AF65-F5344CB8AC3E}">
        <p14:creationId xmlns:p14="http://schemas.microsoft.com/office/powerpoint/2010/main" val="3561006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what Malaysians consider when buying an EV, I reviewed four Reddit threads discussing EV purchases.</a:t>
            </a:r>
            <a:endParaRPr lang="en-SG" dirty="0"/>
          </a:p>
        </p:txBody>
      </p:sp>
      <p:sp>
        <p:nvSpPr>
          <p:cNvPr id="4" name="Slide Number Placeholder 3"/>
          <p:cNvSpPr>
            <a:spLocks noGrp="1"/>
          </p:cNvSpPr>
          <p:nvPr>
            <p:ph type="sldNum" sz="quarter" idx="5"/>
          </p:nvPr>
        </p:nvSpPr>
        <p:spPr/>
        <p:txBody>
          <a:bodyPr/>
          <a:lstStyle/>
          <a:p>
            <a:fld id="{FDBF3159-94EB-4F6B-8273-09F1A6B019E6}" type="slidenum">
              <a:rPr lang="en-US" smtClean="0"/>
              <a:t>16</a:t>
            </a:fld>
            <a:endParaRPr lang="en-US"/>
          </a:p>
        </p:txBody>
      </p:sp>
    </p:spTree>
    <p:extLst>
      <p:ext uri="{BB962C8B-B14F-4D97-AF65-F5344CB8AC3E}">
        <p14:creationId xmlns:p14="http://schemas.microsoft.com/office/powerpoint/2010/main" val="3476429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Keywords: Charger, cost, electricity, fuel, petrol</a:t>
            </a:r>
            <a:endParaRPr lang="en-SG" dirty="0"/>
          </a:p>
        </p:txBody>
      </p:sp>
      <p:sp>
        <p:nvSpPr>
          <p:cNvPr id="4" name="Slide Number Placeholder 3"/>
          <p:cNvSpPr>
            <a:spLocks noGrp="1"/>
          </p:cNvSpPr>
          <p:nvPr>
            <p:ph type="sldNum" sz="quarter" idx="5"/>
          </p:nvPr>
        </p:nvSpPr>
        <p:spPr/>
        <p:txBody>
          <a:bodyPr/>
          <a:lstStyle/>
          <a:p>
            <a:fld id="{FDBF3159-94EB-4F6B-8273-09F1A6B019E6}" type="slidenum">
              <a:rPr lang="en-US" smtClean="0"/>
              <a:t>17</a:t>
            </a:fld>
            <a:endParaRPr lang="en-US"/>
          </a:p>
        </p:txBody>
      </p:sp>
    </p:spTree>
    <p:extLst>
      <p:ext uri="{BB962C8B-B14F-4D97-AF65-F5344CB8AC3E}">
        <p14:creationId xmlns:p14="http://schemas.microsoft.com/office/powerpoint/2010/main" val="1363690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1CE26-8475-297B-B74B-26033106A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DE87B6-12AD-9AEB-EB71-186227C06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A878C-5F89-583F-67EC-09F802CCC264}"/>
              </a:ext>
            </a:extLst>
          </p:cNvPr>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Keywords: Charger, charging, charge, home, time, cost</a:t>
            </a:r>
            <a:endParaRPr lang="en-US" b="0" dirty="0">
              <a:effectLst/>
            </a:endParaRPr>
          </a:p>
        </p:txBody>
      </p:sp>
      <p:sp>
        <p:nvSpPr>
          <p:cNvPr id="4" name="Slide Number Placeholder 3">
            <a:extLst>
              <a:ext uri="{FF2B5EF4-FFF2-40B4-BE49-F238E27FC236}">
                <a16:creationId xmlns:a16="http://schemas.microsoft.com/office/drawing/2014/main" id="{3120E900-4374-D0B6-B69B-34C9CEACF6FD}"/>
              </a:ext>
            </a:extLst>
          </p:cNvPr>
          <p:cNvSpPr>
            <a:spLocks noGrp="1"/>
          </p:cNvSpPr>
          <p:nvPr>
            <p:ph type="sldNum" sz="quarter" idx="5"/>
          </p:nvPr>
        </p:nvSpPr>
        <p:spPr/>
        <p:txBody>
          <a:bodyPr/>
          <a:lstStyle/>
          <a:p>
            <a:fld id="{FDBF3159-94EB-4F6B-8273-09F1A6B019E6}" type="slidenum">
              <a:rPr lang="en-US" smtClean="0"/>
              <a:t>18</a:t>
            </a:fld>
            <a:endParaRPr lang="en-US"/>
          </a:p>
        </p:txBody>
      </p:sp>
    </p:spTree>
    <p:extLst>
      <p:ext uri="{BB962C8B-B14F-4D97-AF65-F5344CB8AC3E}">
        <p14:creationId xmlns:p14="http://schemas.microsoft.com/office/powerpoint/2010/main" val="2384876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Keywords: Time, longer, stations, years, fast, battery</a:t>
            </a:r>
            <a:endParaRPr lang="en-US" b="0" dirty="0">
              <a:effectLst/>
            </a:endParaRPr>
          </a:p>
        </p:txBody>
      </p:sp>
      <p:sp>
        <p:nvSpPr>
          <p:cNvPr id="4" name="Slide Number Placeholder 3"/>
          <p:cNvSpPr>
            <a:spLocks noGrp="1"/>
          </p:cNvSpPr>
          <p:nvPr>
            <p:ph type="sldNum" sz="quarter" idx="5"/>
          </p:nvPr>
        </p:nvSpPr>
        <p:spPr/>
        <p:txBody>
          <a:bodyPr/>
          <a:lstStyle/>
          <a:p>
            <a:fld id="{FDBF3159-94EB-4F6B-8273-09F1A6B019E6}" type="slidenum">
              <a:rPr lang="en-US" smtClean="0"/>
              <a:t>19</a:t>
            </a:fld>
            <a:endParaRPr lang="en-US"/>
          </a:p>
        </p:txBody>
      </p:sp>
    </p:spTree>
    <p:extLst>
      <p:ext uri="{BB962C8B-B14F-4D97-AF65-F5344CB8AC3E}">
        <p14:creationId xmlns:p14="http://schemas.microsoft.com/office/powerpoint/2010/main" val="867880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u="none" strike="noStrike" kern="1200" dirty="0">
                <a:solidFill>
                  <a:schemeClr val="tx1"/>
                </a:solidFill>
                <a:effectLst/>
                <a:latin typeface="+mn-lt"/>
                <a:ea typeface="+mn-ea"/>
                <a:cs typeface="+mn-cs"/>
              </a:rPr>
              <a:t>Keywords: Save, cost, charger</a:t>
            </a:r>
            <a:endParaRPr lang="en-SG" dirty="0"/>
          </a:p>
        </p:txBody>
      </p:sp>
      <p:sp>
        <p:nvSpPr>
          <p:cNvPr id="4" name="Slide Number Placeholder 3"/>
          <p:cNvSpPr>
            <a:spLocks noGrp="1"/>
          </p:cNvSpPr>
          <p:nvPr>
            <p:ph type="sldNum" sz="quarter" idx="5"/>
          </p:nvPr>
        </p:nvSpPr>
        <p:spPr/>
        <p:txBody>
          <a:bodyPr/>
          <a:lstStyle/>
          <a:p>
            <a:fld id="{FDBF3159-94EB-4F6B-8273-09F1A6B019E6}" type="slidenum">
              <a:rPr lang="en-US" smtClean="0"/>
              <a:t>20</a:t>
            </a:fld>
            <a:endParaRPr lang="en-US"/>
          </a:p>
        </p:txBody>
      </p:sp>
    </p:spTree>
    <p:extLst>
      <p:ext uri="{BB962C8B-B14F-4D97-AF65-F5344CB8AC3E}">
        <p14:creationId xmlns:p14="http://schemas.microsoft.com/office/powerpoint/2010/main" val="91045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 Although EVs still make up a minority share of the Malaysian automotive market, their presence on the road </a:t>
            </a:r>
            <a:r>
              <a:rPr lang="en-US" sz="1200" b="1" i="0" u="none" strike="noStrike" kern="1200" dirty="0">
                <a:solidFill>
                  <a:schemeClr val="tx1"/>
                </a:solidFill>
                <a:effectLst/>
                <a:latin typeface="+mn-lt"/>
                <a:ea typeface="+mn-ea"/>
                <a:cs typeface="+mn-cs"/>
              </a:rPr>
              <a:t>has grown significantly </a:t>
            </a:r>
            <a:r>
              <a:rPr lang="en-US" sz="1200" b="0" i="0" u="none" strike="noStrike" kern="1200" dirty="0">
                <a:solidFill>
                  <a:schemeClr val="tx1"/>
                </a:solidFill>
                <a:effectLst/>
                <a:latin typeface="+mn-lt"/>
                <a:ea typeface="+mn-ea"/>
                <a:cs typeface="+mn-cs"/>
              </a:rPr>
              <a:t>in the past five years. This surge coincides with the </a:t>
            </a:r>
            <a:r>
              <a:rPr lang="en-US" sz="1200" b="1" i="0" u="none" strike="noStrike" kern="1200" dirty="0">
                <a:solidFill>
                  <a:schemeClr val="tx1"/>
                </a:solidFill>
                <a:effectLst/>
                <a:latin typeface="+mn-lt"/>
                <a:ea typeface="+mn-ea"/>
                <a:cs typeface="+mn-cs"/>
              </a:rPr>
              <a:t>EV-friendly policies </a:t>
            </a:r>
            <a:r>
              <a:rPr lang="en-US" sz="1200" b="0" i="0" u="none" strike="noStrike" kern="1200" dirty="0">
                <a:solidFill>
                  <a:schemeClr val="tx1"/>
                </a:solidFill>
                <a:effectLst/>
                <a:latin typeface="+mn-lt"/>
                <a:ea typeface="+mn-ea"/>
                <a:cs typeface="+mn-cs"/>
              </a:rPr>
              <a:t>introduced by the Malaysian government in 2022, which included </a:t>
            </a:r>
            <a:r>
              <a:rPr lang="en-US" sz="1200" b="1" i="0" u="none" strike="noStrike" kern="1200" dirty="0">
                <a:solidFill>
                  <a:schemeClr val="tx1"/>
                </a:solidFill>
                <a:effectLst/>
                <a:latin typeface="+mn-lt"/>
                <a:ea typeface="+mn-ea"/>
                <a:cs typeface="+mn-cs"/>
              </a:rPr>
              <a:t>full import and excise duty exemptions for fully built EVs</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road tax waivers</a:t>
            </a:r>
            <a:r>
              <a:rPr lang="en-US" sz="1200" b="0" i="0" u="none" strike="noStrike" kern="1200" dirty="0">
                <a:solidFill>
                  <a:schemeClr val="tx1"/>
                </a:solidFill>
                <a:effectLst/>
                <a:latin typeface="+mn-lt"/>
                <a:ea typeface="+mn-ea"/>
                <a:cs typeface="+mn-cs"/>
              </a:rPr>
              <a:t> from 2022 to 2025. These incentives substantially lowered the purchase cost of EVs, making them more financially accessible and accelerating adoption.</a:t>
            </a:r>
            <a:endParaRPr lang="en-US" b="0" dirty="0">
              <a:effectLst/>
            </a:endParaRPr>
          </a:p>
          <a:p>
            <a:r>
              <a:rPr lang="en-US" dirty="0"/>
              <a:t>- </a:t>
            </a:r>
            <a:r>
              <a:rPr lang="en-US" sz="1200" b="1" i="0" u="none" strike="noStrike" kern="1200" dirty="0">
                <a:solidFill>
                  <a:schemeClr val="tx1"/>
                </a:solidFill>
                <a:effectLst/>
                <a:latin typeface="+mn-lt"/>
                <a:ea typeface="+mn-ea"/>
                <a:cs typeface="+mn-cs"/>
              </a:rPr>
              <a:t>SUVs</a:t>
            </a:r>
            <a:r>
              <a:rPr lang="en-US" sz="1200" b="0" i="0" u="none" strike="noStrike" kern="1200" dirty="0">
                <a:solidFill>
                  <a:schemeClr val="tx1"/>
                </a:solidFill>
                <a:effectLst/>
                <a:latin typeface="+mn-lt"/>
                <a:ea typeface="+mn-ea"/>
                <a:cs typeface="+mn-cs"/>
              </a:rPr>
              <a:t> have emerged as the most preferred category among EV owners. This reflects a broader consumer shift toward </a:t>
            </a:r>
            <a:r>
              <a:rPr lang="en-US" sz="1200" b="1" i="0" u="none" strike="noStrike" kern="1200" dirty="0">
                <a:solidFill>
                  <a:schemeClr val="tx1"/>
                </a:solidFill>
                <a:effectLst/>
                <a:latin typeface="+mn-lt"/>
                <a:ea typeface="+mn-ea"/>
                <a:cs typeface="+mn-cs"/>
              </a:rPr>
              <a:t>spacious and practical vehicles </a:t>
            </a:r>
            <a:r>
              <a:rPr lang="en-US" sz="1200" b="0" i="0" u="none" strike="noStrike" kern="1200" dirty="0">
                <a:solidFill>
                  <a:schemeClr val="tx1"/>
                </a:solidFill>
                <a:effectLst/>
                <a:latin typeface="+mn-lt"/>
                <a:ea typeface="+mn-ea"/>
                <a:cs typeface="+mn-cs"/>
              </a:rPr>
              <a:t>that cater to </a:t>
            </a:r>
            <a:r>
              <a:rPr lang="en-US" sz="1200" b="0" i="0" u="sng" strike="noStrike" kern="1200" dirty="0">
                <a:solidFill>
                  <a:schemeClr val="tx1"/>
                </a:solidFill>
                <a:effectLst/>
                <a:latin typeface="+mn-lt"/>
                <a:ea typeface="+mn-ea"/>
                <a:cs typeface="+mn-cs"/>
              </a:rPr>
              <a:t>family and lifestyle needs</a:t>
            </a:r>
            <a:r>
              <a:rPr lang="en-US" sz="1200" b="0" i="0" u="none" strike="noStrike" kern="1200" dirty="0">
                <a:solidFill>
                  <a:schemeClr val="tx1"/>
                </a:solidFill>
                <a:effectLst/>
                <a:latin typeface="+mn-lt"/>
                <a:ea typeface="+mn-ea"/>
                <a:cs typeface="+mn-cs"/>
              </a:rPr>
              <a:t>. SUVs also offer </a:t>
            </a:r>
            <a:r>
              <a:rPr lang="en-US" sz="1200" b="1" i="0" u="none" strike="noStrike" kern="1200" dirty="0">
                <a:solidFill>
                  <a:schemeClr val="tx1"/>
                </a:solidFill>
                <a:effectLst/>
                <a:latin typeface="+mn-lt"/>
                <a:ea typeface="+mn-ea"/>
                <a:cs typeface="+mn-cs"/>
              </a:rPr>
              <a:t>larger body frames</a:t>
            </a:r>
            <a:r>
              <a:rPr lang="en-US" sz="1200" b="0" i="0" u="none" strike="noStrike" kern="1200" dirty="0">
                <a:solidFill>
                  <a:schemeClr val="tx1"/>
                </a:solidFill>
                <a:effectLst/>
                <a:latin typeface="+mn-lt"/>
                <a:ea typeface="+mn-ea"/>
                <a:cs typeface="+mn-cs"/>
              </a:rPr>
              <a:t>, enabling </a:t>
            </a:r>
            <a:r>
              <a:rPr lang="en-US" sz="1200" b="0" i="0" u="sng" strike="noStrike" kern="1200" dirty="0">
                <a:solidFill>
                  <a:schemeClr val="tx1"/>
                </a:solidFill>
                <a:effectLst/>
                <a:latin typeface="+mn-lt"/>
                <a:ea typeface="+mn-ea"/>
                <a:cs typeface="+mn-cs"/>
              </a:rPr>
              <a:t>the integration of higher-capacity batteries</a:t>
            </a:r>
            <a:r>
              <a:rPr lang="en-US" sz="1200" b="0" i="0" u="none" strike="noStrike" kern="1200" dirty="0">
                <a:solidFill>
                  <a:schemeClr val="tx1"/>
                </a:solidFill>
                <a:effectLst/>
                <a:latin typeface="+mn-lt"/>
                <a:ea typeface="+mn-ea"/>
                <a:cs typeface="+mn-cs"/>
              </a:rPr>
              <a:t> — a factor that </a:t>
            </a:r>
            <a:r>
              <a:rPr lang="en-US" sz="1200" b="0" i="0" u="sng" strike="noStrike" kern="1200" dirty="0">
                <a:solidFill>
                  <a:schemeClr val="tx1"/>
                </a:solidFill>
                <a:effectLst/>
                <a:latin typeface="+mn-lt"/>
                <a:ea typeface="+mn-ea"/>
                <a:cs typeface="+mn-cs"/>
              </a:rPr>
              <a:t>enhances driving range.</a:t>
            </a:r>
            <a:r>
              <a:rPr lang="en-US" sz="1200" b="0" i="0" u="none" strike="noStrike" kern="1200" dirty="0">
                <a:solidFill>
                  <a:schemeClr val="tx1"/>
                </a:solidFill>
                <a:effectLst/>
                <a:latin typeface="+mn-lt"/>
                <a:ea typeface="+mn-ea"/>
                <a:cs typeface="+mn-cs"/>
              </a:rPr>
              <a:t> </a:t>
            </a:r>
            <a:br>
              <a:rPr lang="en-US" dirty="0"/>
            </a:br>
            <a:endParaRPr lang="en-SG" dirty="0"/>
          </a:p>
        </p:txBody>
      </p:sp>
      <p:sp>
        <p:nvSpPr>
          <p:cNvPr id="4" name="Slide Number Placeholder 3"/>
          <p:cNvSpPr>
            <a:spLocks noGrp="1"/>
          </p:cNvSpPr>
          <p:nvPr>
            <p:ph type="sldNum" sz="quarter" idx="5"/>
          </p:nvPr>
        </p:nvSpPr>
        <p:spPr/>
        <p:txBody>
          <a:bodyPr/>
          <a:lstStyle/>
          <a:p>
            <a:fld id="{FDBF3159-94EB-4F6B-8273-09F1A6B019E6}" type="slidenum">
              <a:rPr lang="en-US" smtClean="0"/>
              <a:t>22</a:t>
            </a:fld>
            <a:endParaRPr lang="en-US"/>
          </a:p>
        </p:txBody>
      </p:sp>
    </p:spTree>
    <p:extLst>
      <p:ext uri="{BB962C8B-B14F-4D97-AF65-F5344CB8AC3E}">
        <p14:creationId xmlns:p14="http://schemas.microsoft.com/office/powerpoint/2010/main" val="38631309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Chinese EV brands have risen to market leadership since their entry into Malaysia in late 2022, led by the launch of the BYD Atto 3 (Sime Motors, 2022). Their rapid success is largely due to their </a:t>
            </a:r>
            <a:r>
              <a:rPr lang="en-US" sz="1200" b="1" i="0" u="none" strike="noStrike" kern="1200" dirty="0">
                <a:solidFill>
                  <a:schemeClr val="tx1"/>
                </a:solidFill>
                <a:effectLst/>
                <a:latin typeface="+mn-lt"/>
                <a:ea typeface="+mn-ea"/>
                <a:cs typeface="+mn-cs"/>
              </a:rPr>
              <a:t>value-for-money proposition</a:t>
            </a:r>
            <a:r>
              <a:rPr lang="en-US" sz="1200" b="0" i="0" u="none" strike="noStrike" kern="1200" dirty="0">
                <a:solidFill>
                  <a:schemeClr val="tx1"/>
                </a:solidFill>
                <a:effectLst/>
                <a:latin typeface="+mn-lt"/>
                <a:ea typeface="+mn-ea"/>
                <a:cs typeface="+mn-cs"/>
              </a:rPr>
              <a:t>, offering </a:t>
            </a:r>
            <a:r>
              <a:rPr lang="en-US" sz="1200" b="1" i="0" u="none" strike="noStrike" kern="1200" dirty="0">
                <a:solidFill>
                  <a:schemeClr val="tx1"/>
                </a:solidFill>
                <a:effectLst/>
                <a:latin typeface="+mn-lt"/>
                <a:ea typeface="+mn-ea"/>
                <a:cs typeface="+mn-cs"/>
              </a:rPr>
              <a:t>advanced features and technology </a:t>
            </a:r>
            <a:r>
              <a:rPr lang="en-US" sz="1200" b="0" i="0" u="none" strike="noStrike" kern="1200" dirty="0">
                <a:solidFill>
                  <a:schemeClr val="tx1"/>
                </a:solidFill>
                <a:effectLst/>
                <a:latin typeface="+mn-lt"/>
                <a:ea typeface="+mn-ea"/>
                <a:cs typeface="+mn-cs"/>
              </a:rPr>
              <a:t>at significantly </a:t>
            </a:r>
            <a:r>
              <a:rPr lang="en-US" sz="1200" b="1" i="0" u="none" strike="noStrike" kern="1200" dirty="0">
                <a:solidFill>
                  <a:schemeClr val="tx1"/>
                </a:solidFill>
                <a:effectLst/>
                <a:latin typeface="+mn-lt"/>
                <a:ea typeface="+mn-ea"/>
                <a:cs typeface="+mn-cs"/>
              </a:rPr>
              <a:t>lower prices</a:t>
            </a:r>
            <a:r>
              <a:rPr lang="en-US" sz="1200" b="0" i="0" u="none" strike="noStrike" kern="1200" dirty="0">
                <a:solidFill>
                  <a:schemeClr val="tx1"/>
                </a:solidFill>
                <a:effectLst/>
                <a:latin typeface="+mn-lt"/>
                <a:ea typeface="+mn-ea"/>
                <a:cs typeface="+mn-cs"/>
              </a:rPr>
              <a:t>.</a:t>
            </a:r>
            <a:endParaRPr lang="en-SG" dirty="0"/>
          </a:p>
        </p:txBody>
      </p:sp>
      <p:sp>
        <p:nvSpPr>
          <p:cNvPr id="4" name="Slide Number Placeholder 3"/>
          <p:cNvSpPr>
            <a:spLocks noGrp="1"/>
          </p:cNvSpPr>
          <p:nvPr>
            <p:ph type="sldNum" sz="quarter" idx="5"/>
          </p:nvPr>
        </p:nvSpPr>
        <p:spPr/>
        <p:txBody>
          <a:bodyPr/>
          <a:lstStyle/>
          <a:p>
            <a:fld id="{FDBF3159-94EB-4F6B-8273-09F1A6B019E6}" type="slidenum">
              <a:rPr lang="en-US" smtClean="0"/>
              <a:t>23</a:t>
            </a:fld>
            <a:endParaRPr lang="en-US"/>
          </a:p>
        </p:txBody>
      </p:sp>
    </p:spTree>
    <p:extLst>
      <p:ext uri="{BB962C8B-B14F-4D97-AF65-F5344CB8AC3E}">
        <p14:creationId xmlns:p14="http://schemas.microsoft.com/office/powerpoint/2010/main" val="15454447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Review of online discussions — particularly four Reddit threads — revealed frequent mentions of keywords related to charging infrastructure, such as “charger,” “charging,” “station,” and “infrastructure.” This suggests that </a:t>
            </a:r>
            <a:r>
              <a:rPr lang="en-US" sz="1200" b="1" i="0" u="none" strike="noStrike" kern="1200" dirty="0">
                <a:solidFill>
                  <a:schemeClr val="tx1"/>
                </a:solidFill>
                <a:effectLst/>
                <a:latin typeface="+mn-lt"/>
                <a:ea typeface="+mn-ea"/>
                <a:cs typeface="+mn-cs"/>
              </a:rPr>
              <a:t>charging availability </a:t>
            </a:r>
            <a:r>
              <a:rPr lang="en-US" sz="1200" b="0" i="0" u="none" strike="noStrike" kern="1200" dirty="0">
                <a:solidFill>
                  <a:schemeClr val="tx1"/>
                </a:solidFill>
                <a:effectLst/>
                <a:latin typeface="+mn-lt"/>
                <a:ea typeface="+mn-ea"/>
                <a:cs typeface="+mn-cs"/>
              </a:rPr>
              <a:t>is a critical consideration for potential EV buyers, particularly for residents of high-rise buildings who cannot easily install private chargers. </a:t>
            </a:r>
            <a:endParaRPr lang="en-US" b="0" dirty="0">
              <a:effectLst/>
            </a:endParaRPr>
          </a:p>
          <a:p>
            <a:pPr rtl="0"/>
            <a:br>
              <a:rPr lang="en-US" b="0" dirty="0">
                <a:effectLst/>
              </a:rPr>
            </a:br>
            <a:r>
              <a:rPr lang="en-US" sz="1200" b="1" i="0" u="none" strike="noStrike" kern="1200" dirty="0">
                <a:solidFill>
                  <a:schemeClr val="tx1"/>
                </a:solidFill>
                <a:effectLst/>
                <a:latin typeface="+mn-lt"/>
                <a:ea typeface="+mn-ea"/>
                <a:cs typeface="+mn-cs"/>
              </a:rPr>
              <a:t>Charging time </a:t>
            </a:r>
            <a:r>
              <a:rPr lang="en-US" sz="1200" b="0" i="0" u="none" strike="noStrike" kern="1200" dirty="0">
                <a:solidFill>
                  <a:schemeClr val="tx1"/>
                </a:solidFill>
                <a:effectLst/>
                <a:latin typeface="+mn-lt"/>
                <a:ea typeface="+mn-ea"/>
                <a:cs typeface="+mn-cs"/>
              </a:rPr>
              <a:t>is another point of consideration: </a:t>
            </a:r>
            <a:r>
              <a:rPr lang="en-US" sz="1200" b="0" i="0" u="sng" strike="noStrike" kern="1200" dirty="0">
                <a:solidFill>
                  <a:schemeClr val="tx1"/>
                </a:solidFill>
                <a:effectLst/>
                <a:latin typeface="+mn-lt"/>
                <a:ea typeface="+mn-ea"/>
                <a:cs typeface="+mn-cs"/>
              </a:rPr>
              <a:t>fully charging an EV can take several hours</a:t>
            </a:r>
            <a:r>
              <a:rPr lang="en-US" sz="1200" b="0" i="0" u="none" strike="noStrike" kern="1200" dirty="0">
                <a:solidFill>
                  <a:schemeClr val="tx1"/>
                </a:solidFill>
                <a:effectLst/>
                <a:latin typeface="+mn-lt"/>
                <a:ea typeface="+mn-ea"/>
                <a:cs typeface="+mn-cs"/>
              </a:rPr>
              <a:t>, whereas </a:t>
            </a:r>
            <a:r>
              <a:rPr lang="en-US" sz="1200" b="0" i="0" u="sng" strike="noStrike" kern="1200" dirty="0">
                <a:solidFill>
                  <a:schemeClr val="tx1"/>
                </a:solidFill>
                <a:effectLst/>
                <a:latin typeface="+mn-lt"/>
                <a:ea typeface="+mn-ea"/>
                <a:cs typeface="+mn-cs"/>
              </a:rPr>
              <a:t>refueling a petrol car </a:t>
            </a:r>
            <a:r>
              <a:rPr lang="en-US" sz="1200" b="0" i="0" u="none" strike="noStrike" kern="1200" dirty="0">
                <a:solidFill>
                  <a:schemeClr val="tx1"/>
                </a:solidFill>
                <a:effectLst/>
                <a:latin typeface="+mn-lt"/>
                <a:ea typeface="+mn-ea"/>
                <a:cs typeface="+mn-cs"/>
              </a:rPr>
              <a:t>typically takes </a:t>
            </a:r>
            <a:r>
              <a:rPr lang="en-US" sz="1200" b="0" i="0" u="sng" strike="noStrike" kern="1200" dirty="0">
                <a:solidFill>
                  <a:schemeClr val="tx1"/>
                </a:solidFill>
                <a:effectLst/>
                <a:latin typeface="+mn-lt"/>
                <a:ea typeface="+mn-ea"/>
                <a:cs typeface="+mn-cs"/>
              </a:rPr>
              <a:t>under five minutes </a:t>
            </a:r>
            <a:r>
              <a:rPr lang="en-US" sz="1200" b="0" i="0" u="none" strike="noStrike" kern="1200" dirty="0">
                <a:solidFill>
                  <a:schemeClr val="tx1"/>
                </a:solidFill>
                <a:effectLst/>
                <a:latin typeface="+mn-lt"/>
                <a:ea typeface="+mn-ea"/>
                <a:cs typeface="+mn-cs"/>
              </a:rPr>
              <a:t>(Energi Elite, n.d.).</a:t>
            </a:r>
            <a:endParaRPr lang="en-US" b="0" dirty="0">
              <a:effectLst/>
            </a:endParaRPr>
          </a:p>
          <a:p>
            <a:pPr rtl="0"/>
            <a:br>
              <a:rPr lang="en-US" b="0" dirty="0">
                <a:effectLst/>
              </a:rPr>
            </a:br>
            <a:r>
              <a:rPr lang="en-US" sz="1200" b="0" i="0" u="none" strike="noStrike" kern="1200" dirty="0">
                <a:solidFill>
                  <a:schemeClr val="tx1"/>
                </a:solidFill>
                <a:effectLst/>
                <a:latin typeface="+mn-lt"/>
                <a:ea typeface="+mn-ea"/>
                <a:cs typeface="+mn-cs"/>
              </a:rPr>
              <a:t>Another notable barrier is the </a:t>
            </a:r>
            <a:r>
              <a:rPr lang="en-US" sz="1200" b="1" i="0" u="none" strike="noStrike" kern="1200" dirty="0">
                <a:solidFill>
                  <a:schemeClr val="tx1"/>
                </a:solidFill>
                <a:effectLst/>
                <a:latin typeface="+mn-lt"/>
                <a:ea typeface="+mn-ea"/>
                <a:cs typeface="+mn-cs"/>
              </a:rPr>
              <a:t>perceived low resale value of EVs</a:t>
            </a:r>
            <a:r>
              <a:rPr lang="en-US" sz="1200" b="0" i="0" u="none" strike="noStrike" kern="1200" dirty="0">
                <a:solidFill>
                  <a:schemeClr val="tx1"/>
                </a:solidFill>
                <a:effectLst/>
                <a:latin typeface="+mn-lt"/>
                <a:ea typeface="+mn-ea"/>
                <a:cs typeface="+mn-cs"/>
              </a:rPr>
              <a:t>. Potential buyers of used EVs face </a:t>
            </a:r>
            <a:r>
              <a:rPr lang="en-US" sz="1200" b="0" i="0" u="sng" strike="noStrike" kern="1200" dirty="0">
                <a:solidFill>
                  <a:schemeClr val="tx1"/>
                </a:solidFill>
                <a:effectLst/>
                <a:latin typeface="+mn-lt"/>
                <a:ea typeface="+mn-ea"/>
                <a:cs typeface="+mn-cs"/>
              </a:rPr>
              <a:t>uncertainty over battery lifespan </a:t>
            </a:r>
            <a:r>
              <a:rPr lang="en-US" sz="1200" b="0" i="0" u="none" strike="noStrike" kern="1200" dirty="0">
                <a:solidFill>
                  <a:schemeClr val="tx1"/>
                </a:solidFill>
                <a:effectLst/>
                <a:latin typeface="+mn-lt"/>
                <a:ea typeface="+mn-ea"/>
                <a:cs typeface="+mn-cs"/>
              </a:rPr>
              <a:t>and </a:t>
            </a:r>
            <a:r>
              <a:rPr lang="en-US" sz="1200" b="0" i="0" u="sng" strike="noStrike" kern="1200" dirty="0">
                <a:solidFill>
                  <a:schemeClr val="tx1"/>
                </a:solidFill>
                <a:effectLst/>
                <a:latin typeface="+mn-lt"/>
                <a:ea typeface="+mn-ea"/>
                <a:cs typeface="+mn-cs"/>
              </a:rPr>
              <a:t>potential replacement costs</a:t>
            </a:r>
            <a:r>
              <a:rPr lang="en-US" sz="1200" b="0" i="0" u="none" strike="noStrike" kern="1200" dirty="0">
                <a:solidFill>
                  <a:schemeClr val="tx1"/>
                </a:solidFill>
                <a:effectLst/>
                <a:latin typeface="+mn-lt"/>
                <a:ea typeface="+mn-ea"/>
                <a:cs typeface="+mn-cs"/>
              </a:rPr>
              <a:t>, while swift </a:t>
            </a:r>
            <a:r>
              <a:rPr lang="en-US" sz="1200" b="0" i="0" u="sng" strike="noStrike" kern="1200" dirty="0">
                <a:solidFill>
                  <a:schemeClr val="tx1"/>
                </a:solidFill>
                <a:effectLst/>
                <a:latin typeface="+mn-lt"/>
                <a:ea typeface="+mn-ea"/>
                <a:cs typeface="+mn-cs"/>
              </a:rPr>
              <a:t>improvements in EV technology </a:t>
            </a:r>
            <a:r>
              <a:rPr lang="en-US" sz="1200" b="0" i="0" u="none" strike="noStrike" kern="1200" dirty="0">
                <a:solidFill>
                  <a:schemeClr val="tx1"/>
                </a:solidFill>
                <a:effectLst/>
                <a:latin typeface="+mn-lt"/>
                <a:ea typeface="+mn-ea"/>
                <a:cs typeface="+mn-cs"/>
              </a:rPr>
              <a:t>can render older models </a:t>
            </a:r>
            <a:r>
              <a:rPr lang="en-US" sz="1200" b="0" i="0" u="sng" strike="noStrike" kern="1200" dirty="0">
                <a:solidFill>
                  <a:schemeClr val="tx1"/>
                </a:solidFill>
                <a:effectLst/>
                <a:latin typeface="+mn-lt"/>
                <a:ea typeface="+mn-ea"/>
                <a:cs typeface="+mn-cs"/>
              </a:rPr>
              <a:t>obsolete more quickly</a:t>
            </a:r>
            <a:r>
              <a:rPr lang="en-US" sz="1200" b="0" i="0" u="none" strike="noStrike" kern="1200" dirty="0">
                <a:solidFill>
                  <a:schemeClr val="tx1"/>
                </a:solidFill>
                <a:effectLst/>
                <a:latin typeface="+mn-lt"/>
                <a:ea typeface="+mn-ea"/>
                <a:cs typeface="+mn-cs"/>
              </a:rPr>
              <a:t>, further eroding their second-hand value.</a:t>
            </a:r>
            <a:endParaRPr lang="en-US" b="0" dirty="0">
              <a:effectLst/>
            </a:endParaRPr>
          </a:p>
          <a:p>
            <a:pPr rtl="0"/>
            <a:br>
              <a:rPr lang="en-US" b="0" dirty="0">
                <a:effectLst/>
              </a:rPr>
            </a:br>
            <a:r>
              <a:rPr lang="en-US" sz="1200" b="0" i="0" u="none" strike="noStrike" kern="1200" dirty="0">
                <a:solidFill>
                  <a:schemeClr val="tx1"/>
                </a:solidFill>
                <a:effectLst/>
                <a:latin typeface="+mn-lt"/>
                <a:ea typeface="+mn-ea"/>
                <a:cs typeface="+mn-cs"/>
              </a:rPr>
              <a:t>Additionally, Malaysia’s </a:t>
            </a:r>
            <a:r>
              <a:rPr lang="en-US" sz="1200" b="1" i="0" u="none" strike="noStrike" kern="1200" dirty="0">
                <a:solidFill>
                  <a:schemeClr val="tx1"/>
                </a:solidFill>
                <a:effectLst/>
                <a:latin typeface="+mn-lt"/>
                <a:ea typeface="+mn-ea"/>
                <a:cs typeface="+mn-cs"/>
              </a:rPr>
              <a:t>relatively low petrol prices </a:t>
            </a:r>
            <a:r>
              <a:rPr lang="en-US" sz="1200" b="0" i="0" u="sng" strike="noStrike" kern="1200" dirty="0">
                <a:solidFill>
                  <a:schemeClr val="tx1"/>
                </a:solidFill>
                <a:effectLst/>
                <a:latin typeface="+mn-lt"/>
                <a:ea typeface="+mn-ea"/>
                <a:cs typeface="+mn-cs"/>
              </a:rPr>
              <a:t>weaken the economic incentive </a:t>
            </a:r>
            <a:r>
              <a:rPr lang="en-US" sz="1200" b="0" i="0" u="none" strike="noStrike" kern="1200" dirty="0">
                <a:solidFill>
                  <a:schemeClr val="tx1"/>
                </a:solidFill>
                <a:effectLst/>
                <a:latin typeface="+mn-lt"/>
                <a:ea typeface="+mn-ea"/>
                <a:cs typeface="+mn-cs"/>
              </a:rPr>
              <a:t>to switch to EVs. For comparison, petrol costs USD 2.04 per </a:t>
            </a:r>
            <a:r>
              <a:rPr lang="en-US" sz="1200" b="0" i="0" u="none" strike="noStrike" kern="1200" dirty="0" err="1">
                <a:solidFill>
                  <a:schemeClr val="tx1"/>
                </a:solidFill>
                <a:effectLst/>
                <a:latin typeface="+mn-lt"/>
                <a:ea typeface="+mn-ea"/>
                <a:cs typeface="+mn-cs"/>
              </a:rPr>
              <a:t>litre</a:t>
            </a:r>
            <a:r>
              <a:rPr lang="en-US" sz="1200" b="0" i="0" u="none" strike="noStrike" kern="1200" dirty="0">
                <a:solidFill>
                  <a:schemeClr val="tx1"/>
                </a:solidFill>
                <a:effectLst/>
                <a:latin typeface="+mn-lt"/>
                <a:ea typeface="+mn-ea"/>
                <a:cs typeface="+mn-cs"/>
              </a:rPr>
              <a:t> in Norway (the world leader in EV adoption) versus USD 0.48 per </a:t>
            </a:r>
            <a:r>
              <a:rPr lang="en-US" sz="1200" b="0" i="0" u="none" strike="noStrike" kern="1200" dirty="0" err="1">
                <a:solidFill>
                  <a:schemeClr val="tx1"/>
                </a:solidFill>
                <a:effectLst/>
                <a:latin typeface="+mn-lt"/>
                <a:ea typeface="+mn-ea"/>
                <a:cs typeface="+mn-cs"/>
              </a:rPr>
              <a:t>litre</a:t>
            </a:r>
            <a:r>
              <a:rPr lang="en-US" sz="1200" b="0" i="0" u="none" strike="noStrike" kern="1200" dirty="0">
                <a:solidFill>
                  <a:schemeClr val="tx1"/>
                </a:solidFill>
                <a:effectLst/>
                <a:latin typeface="+mn-lt"/>
                <a:ea typeface="+mn-ea"/>
                <a:cs typeface="+mn-cs"/>
              </a:rPr>
              <a:t> in Malaysia, largely due to government subsidies.</a:t>
            </a:r>
            <a:endParaRPr lang="en-US" b="0" dirty="0">
              <a:effectLst/>
            </a:endParaRPr>
          </a:p>
          <a:p>
            <a:br>
              <a:rPr lang="en-US" dirty="0"/>
            </a:br>
            <a:endParaRPr lang="en-SG" dirty="0"/>
          </a:p>
        </p:txBody>
      </p:sp>
      <p:sp>
        <p:nvSpPr>
          <p:cNvPr id="4" name="Slide Number Placeholder 3"/>
          <p:cNvSpPr>
            <a:spLocks noGrp="1"/>
          </p:cNvSpPr>
          <p:nvPr>
            <p:ph type="sldNum" sz="quarter" idx="5"/>
          </p:nvPr>
        </p:nvSpPr>
        <p:spPr/>
        <p:txBody>
          <a:bodyPr/>
          <a:lstStyle/>
          <a:p>
            <a:fld id="{FDBF3159-94EB-4F6B-8273-09F1A6B019E6}" type="slidenum">
              <a:rPr lang="en-US" smtClean="0"/>
              <a:t>24</a:t>
            </a:fld>
            <a:endParaRPr lang="en-US"/>
          </a:p>
        </p:txBody>
      </p:sp>
    </p:spTree>
    <p:extLst>
      <p:ext uri="{BB962C8B-B14F-4D97-AF65-F5344CB8AC3E}">
        <p14:creationId xmlns:p14="http://schemas.microsoft.com/office/powerpoint/2010/main" val="9780018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0" i="0" u="none" strike="noStrike" kern="1200" dirty="0">
                <a:solidFill>
                  <a:schemeClr val="tx1"/>
                </a:solidFill>
                <a:effectLst/>
                <a:latin typeface="+mn-lt"/>
                <a:ea typeface="+mn-ea"/>
                <a:cs typeface="+mn-cs"/>
              </a:rPr>
              <a:t>BYD’s combination of </a:t>
            </a:r>
            <a:r>
              <a:rPr lang="en-US" sz="1200" b="1" i="0" u="none" strike="noStrike" kern="1200" dirty="0">
                <a:solidFill>
                  <a:schemeClr val="tx1"/>
                </a:solidFill>
                <a:effectLst/>
                <a:latin typeface="+mn-lt"/>
                <a:ea typeface="+mn-ea"/>
                <a:cs typeface="+mn-cs"/>
              </a:rPr>
              <a:t>premium build quality</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competitive pricing</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strategic distribution partnership</a:t>
            </a:r>
            <a:r>
              <a:rPr lang="en-US" sz="1200" b="0" i="0" u="none" strike="noStrike" kern="1200" dirty="0">
                <a:solidFill>
                  <a:schemeClr val="tx1"/>
                </a:solidFill>
                <a:effectLst/>
                <a:latin typeface="+mn-lt"/>
                <a:ea typeface="+mn-ea"/>
                <a:cs typeface="+mn-cs"/>
              </a:rPr>
              <a:t> with </a:t>
            </a:r>
            <a:r>
              <a:rPr lang="en-US" sz="1200" b="0" i="0" u="sng" strike="noStrike" kern="1200" dirty="0">
                <a:solidFill>
                  <a:schemeClr val="tx1"/>
                </a:solidFill>
                <a:effectLst/>
                <a:latin typeface="+mn-lt"/>
                <a:ea typeface="+mn-ea"/>
                <a:cs typeface="+mn-cs"/>
              </a:rPr>
              <a:t>Sime Darby Motors</a:t>
            </a:r>
            <a:r>
              <a:rPr lang="en-US" sz="1200" b="0" i="0" u="none" strike="noStrike" kern="1200" dirty="0">
                <a:solidFill>
                  <a:schemeClr val="tx1"/>
                </a:solidFill>
                <a:effectLst/>
                <a:latin typeface="+mn-lt"/>
                <a:ea typeface="+mn-ea"/>
                <a:cs typeface="+mn-cs"/>
              </a:rPr>
              <a:t> has been pivotal. Comprehensive after-sales services and attractive warranty packages have further enhanced trust among Malaysian consumers.</a:t>
            </a:r>
          </a:p>
          <a:p>
            <a:pPr marL="171450" indent="-171450">
              <a:buFontTx/>
              <a:buChar char="-"/>
            </a:pPr>
            <a:r>
              <a:rPr lang="en-US" sz="1200" b="0" i="0" u="none" strike="noStrike" kern="1200" dirty="0" err="1">
                <a:solidFill>
                  <a:schemeClr val="tx1"/>
                </a:solidFill>
                <a:effectLst/>
                <a:latin typeface="+mn-lt"/>
                <a:ea typeface="+mn-ea"/>
                <a:cs typeface="+mn-cs"/>
              </a:rPr>
              <a:t>Jaecoo</a:t>
            </a:r>
            <a:r>
              <a:rPr lang="en-US" sz="1200" b="0" i="0" u="none" strike="noStrike" kern="1200" dirty="0">
                <a:solidFill>
                  <a:schemeClr val="tx1"/>
                </a:solidFill>
                <a:effectLst/>
                <a:latin typeface="+mn-lt"/>
                <a:ea typeface="+mn-ea"/>
                <a:cs typeface="+mn-cs"/>
              </a:rPr>
              <a:t>: A </a:t>
            </a:r>
            <a:r>
              <a:rPr lang="en-US" sz="1200" b="1" i="0" u="none" strike="noStrike" kern="1200" dirty="0">
                <a:solidFill>
                  <a:schemeClr val="tx1"/>
                </a:solidFill>
                <a:effectLst/>
                <a:latin typeface="+mn-lt"/>
                <a:ea typeface="+mn-ea"/>
                <a:cs typeface="+mn-cs"/>
              </a:rPr>
              <a:t>strong dealer network</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warehouse facilities</a:t>
            </a:r>
            <a:r>
              <a:rPr lang="en-US" sz="1200" b="0" i="0" u="none" strike="noStrike" kern="1200" dirty="0">
                <a:solidFill>
                  <a:schemeClr val="tx1"/>
                </a:solidFill>
                <a:effectLst/>
                <a:latin typeface="+mn-lt"/>
                <a:ea typeface="+mn-ea"/>
                <a:cs typeface="+mn-cs"/>
              </a:rPr>
              <a:t> have been instrumental to its success (Aubrey, 2025). </a:t>
            </a:r>
            <a:r>
              <a:rPr lang="en-US" sz="1200" b="0" i="0" u="none" strike="noStrike" kern="1200" dirty="0" err="1">
                <a:solidFill>
                  <a:schemeClr val="tx1"/>
                </a:solidFill>
                <a:effectLst/>
                <a:latin typeface="+mn-lt"/>
                <a:ea typeface="+mn-ea"/>
                <a:cs typeface="+mn-cs"/>
              </a:rPr>
              <a:t>Jaecoo</a:t>
            </a:r>
            <a:r>
              <a:rPr lang="en-US" sz="1200" b="0" i="0" u="none" strike="noStrike" kern="1200" dirty="0">
                <a:solidFill>
                  <a:schemeClr val="tx1"/>
                </a:solidFill>
                <a:effectLst/>
                <a:latin typeface="+mn-lt"/>
                <a:ea typeface="+mn-ea"/>
                <a:cs typeface="+mn-cs"/>
              </a:rPr>
              <a:t> Malaysia works </a:t>
            </a:r>
            <a:r>
              <a:rPr lang="en-US" sz="1200" b="0" i="0" u="sng" strike="noStrike" kern="1200" dirty="0">
                <a:solidFill>
                  <a:schemeClr val="tx1"/>
                </a:solidFill>
                <a:effectLst/>
                <a:latin typeface="+mn-lt"/>
                <a:ea typeface="+mn-ea"/>
                <a:cs typeface="+mn-cs"/>
              </a:rPr>
              <a:t>with 45 dealers</a:t>
            </a:r>
            <a:r>
              <a:rPr lang="en-US" sz="1200" b="0" i="0" u="none" strike="noStrike" kern="1200" dirty="0">
                <a:solidFill>
                  <a:schemeClr val="tx1"/>
                </a:solidFill>
                <a:effectLst/>
                <a:latin typeface="+mn-lt"/>
                <a:ea typeface="+mn-ea"/>
                <a:cs typeface="+mn-cs"/>
              </a:rPr>
              <a:t> for their </a:t>
            </a:r>
            <a:r>
              <a:rPr lang="en-US" sz="1200" b="0" i="0" u="sng" strike="noStrike" kern="1200" dirty="0">
                <a:solidFill>
                  <a:schemeClr val="tx1"/>
                </a:solidFill>
                <a:effectLst/>
                <a:latin typeface="+mn-lt"/>
                <a:ea typeface="+mn-ea"/>
                <a:cs typeface="+mn-cs"/>
              </a:rPr>
              <a:t>sales and after-sales support services</a:t>
            </a:r>
            <a:r>
              <a:rPr lang="en-US" sz="1200" b="0" i="0" u="none" strike="noStrike" kern="1200" dirty="0">
                <a:solidFill>
                  <a:schemeClr val="tx1"/>
                </a:solidFill>
                <a:effectLst/>
                <a:latin typeface="+mn-lt"/>
                <a:ea typeface="+mn-ea"/>
                <a:cs typeface="+mn-cs"/>
              </a:rPr>
              <a:t> (Azmi, 2025). The dealerships receive strong support from the brand in delivering </a:t>
            </a:r>
            <a:r>
              <a:rPr lang="en-US" sz="1200" b="0" i="0" u="sng" strike="noStrike" kern="1200" dirty="0">
                <a:solidFill>
                  <a:schemeClr val="tx1"/>
                </a:solidFill>
                <a:effectLst/>
                <a:latin typeface="+mn-lt"/>
                <a:ea typeface="+mn-ea"/>
                <a:cs typeface="+mn-cs"/>
              </a:rPr>
              <a:t>premium customer experience at their showrooms</a:t>
            </a:r>
            <a:r>
              <a:rPr lang="en-US" sz="1200" b="0" i="0" u="none" strike="noStrike" kern="1200" dirty="0">
                <a:solidFill>
                  <a:schemeClr val="tx1"/>
                </a:solidFill>
                <a:effectLst/>
                <a:latin typeface="+mn-lt"/>
                <a:ea typeface="+mn-ea"/>
                <a:cs typeface="+mn-cs"/>
              </a:rPr>
              <a:t>. Their showrooms typically feature a dedicated coffee bar, product displays and a delivery lounge.</a:t>
            </a:r>
            <a:endParaRPr lang="en-SG" dirty="0"/>
          </a:p>
        </p:txBody>
      </p:sp>
      <p:sp>
        <p:nvSpPr>
          <p:cNvPr id="4" name="Slide Number Placeholder 3"/>
          <p:cNvSpPr>
            <a:spLocks noGrp="1"/>
          </p:cNvSpPr>
          <p:nvPr>
            <p:ph type="sldNum" sz="quarter" idx="5"/>
          </p:nvPr>
        </p:nvSpPr>
        <p:spPr/>
        <p:txBody>
          <a:bodyPr/>
          <a:lstStyle/>
          <a:p>
            <a:fld id="{FDBF3159-94EB-4F6B-8273-09F1A6B019E6}" type="slidenum">
              <a:rPr lang="en-US" smtClean="0"/>
              <a:t>25</a:t>
            </a:fld>
            <a:endParaRPr lang="en-US"/>
          </a:p>
        </p:txBody>
      </p:sp>
    </p:spTree>
    <p:extLst>
      <p:ext uri="{BB962C8B-B14F-4D97-AF65-F5344CB8AC3E}">
        <p14:creationId xmlns:p14="http://schemas.microsoft.com/office/powerpoint/2010/main" val="20235831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 The data indicates that Malaysia is making meaningful progress toward its EV adoption goals. EVs accounted for </a:t>
            </a:r>
            <a:r>
              <a:rPr lang="en-US" sz="1200" b="1" i="0" u="none" strike="noStrike" kern="1200" dirty="0">
                <a:solidFill>
                  <a:schemeClr val="tx1"/>
                </a:solidFill>
                <a:effectLst/>
                <a:latin typeface="+mn-lt"/>
                <a:ea typeface="+mn-ea"/>
                <a:cs typeface="+mn-cs"/>
              </a:rPr>
              <a:t>4.32% of the total car market </a:t>
            </a:r>
            <a:r>
              <a:rPr lang="en-US" sz="1200" b="0" i="0" u="none" strike="noStrike" kern="1200" dirty="0">
                <a:solidFill>
                  <a:schemeClr val="tx1"/>
                </a:solidFill>
                <a:effectLst/>
                <a:latin typeface="+mn-lt"/>
                <a:ea typeface="+mn-ea"/>
                <a:cs typeface="+mn-cs"/>
              </a:rPr>
              <a:t>in 2025, a sharp rise </a:t>
            </a:r>
            <a:r>
              <a:rPr lang="en-US" sz="1200" b="1" i="0" u="none" strike="noStrike" kern="1200" dirty="0">
                <a:solidFill>
                  <a:schemeClr val="tx1"/>
                </a:solidFill>
                <a:effectLst/>
                <a:latin typeface="+mn-lt"/>
                <a:ea typeface="+mn-ea"/>
                <a:cs typeface="+mn-cs"/>
              </a:rPr>
              <a:t>from just 0.05% in 2021</a:t>
            </a:r>
            <a:r>
              <a:rPr lang="en-US" sz="1200" b="0" i="0" u="none" strike="noStrike" kern="1200" dirty="0">
                <a:solidFill>
                  <a:schemeClr val="tx1"/>
                </a:solidFill>
                <a:effectLst/>
                <a:latin typeface="+mn-lt"/>
                <a:ea typeface="+mn-ea"/>
                <a:cs typeface="+mn-cs"/>
              </a:rPr>
              <a:t>—an 84-fold increase, though from a modest starting point. This surge reflects </a:t>
            </a:r>
            <a:r>
              <a:rPr lang="en-US" sz="1200" b="1" i="0" u="none" strike="noStrike" kern="1200" dirty="0">
                <a:solidFill>
                  <a:schemeClr val="tx1"/>
                </a:solidFill>
                <a:effectLst/>
                <a:latin typeface="+mn-lt"/>
                <a:ea typeface="+mn-ea"/>
                <a:cs typeface="+mn-cs"/>
              </a:rPr>
              <a:t>growing consumer acceptance </a:t>
            </a:r>
            <a:r>
              <a:rPr lang="en-US" sz="1200" b="0" i="0" u="none" strike="noStrike" kern="1200" dirty="0">
                <a:solidFill>
                  <a:schemeClr val="tx1"/>
                </a:solidFill>
                <a:effectLst/>
                <a:latin typeface="+mn-lt"/>
                <a:ea typeface="+mn-ea"/>
                <a:cs typeface="+mn-cs"/>
              </a:rPr>
              <a:t>as EVs enter the mass market. </a:t>
            </a:r>
          </a:p>
          <a:p>
            <a:r>
              <a:rPr lang="en-US" sz="1200" b="0" i="0" u="none" strike="noStrike" kern="1200" dirty="0">
                <a:solidFill>
                  <a:schemeClr val="tx1"/>
                </a:solidFill>
                <a:effectLst/>
                <a:latin typeface="+mn-lt"/>
                <a:ea typeface="+mn-ea"/>
                <a:cs typeface="+mn-cs"/>
              </a:rPr>
              <a:t>- With </a:t>
            </a:r>
            <a:r>
              <a:rPr lang="en-US" sz="1200" b="1" i="0" u="none" strike="noStrike" kern="1200" dirty="0">
                <a:solidFill>
                  <a:schemeClr val="tx1"/>
                </a:solidFill>
                <a:effectLst/>
                <a:latin typeface="+mn-lt"/>
                <a:ea typeface="+mn-ea"/>
                <a:cs typeface="+mn-cs"/>
              </a:rPr>
              <a:t>continued policy support</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sustained investment </a:t>
            </a:r>
            <a:r>
              <a:rPr lang="en-US" sz="1200" b="0" i="0" u="none" strike="noStrike" kern="1200" dirty="0">
                <a:solidFill>
                  <a:schemeClr val="tx1"/>
                </a:solidFill>
                <a:effectLst/>
                <a:latin typeface="+mn-lt"/>
                <a:ea typeface="+mn-ea"/>
                <a:cs typeface="+mn-cs"/>
              </a:rPr>
              <a:t>in charging infrastructure, Malaysia is well-positioned to achieve </a:t>
            </a:r>
            <a:r>
              <a:rPr lang="en-US" sz="1200" b="0" i="0" u="sng" strike="noStrike" kern="1200" dirty="0">
                <a:solidFill>
                  <a:schemeClr val="tx1"/>
                </a:solidFill>
                <a:effectLst/>
                <a:latin typeface="+mn-lt"/>
                <a:ea typeface="+mn-ea"/>
                <a:cs typeface="+mn-cs"/>
              </a:rPr>
              <a:t>the government’s target of 15% of new car sales being EVs </a:t>
            </a:r>
            <a:r>
              <a:rPr lang="en-US" sz="1200" b="0" i="0" u="none" strike="noStrike" kern="1200" dirty="0">
                <a:solidFill>
                  <a:schemeClr val="tx1"/>
                </a:solidFill>
                <a:effectLst/>
                <a:latin typeface="+mn-lt"/>
                <a:ea typeface="+mn-ea"/>
                <a:cs typeface="+mn-cs"/>
              </a:rPr>
              <a:t>by 2030.</a:t>
            </a:r>
            <a:endParaRPr lang="en-SG" dirty="0"/>
          </a:p>
        </p:txBody>
      </p:sp>
      <p:sp>
        <p:nvSpPr>
          <p:cNvPr id="4" name="Slide Number Placeholder 3"/>
          <p:cNvSpPr>
            <a:spLocks noGrp="1"/>
          </p:cNvSpPr>
          <p:nvPr>
            <p:ph type="sldNum" sz="quarter" idx="5"/>
          </p:nvPr>
        </p:nvSpPr>
        <p:spPr/>
        <p:txBody>
          <a:bodyPr/>
          <a:lstStyle/>
          <a:p>
            <a:fld id="{FDBF3159-94EB-4F6B-8273-09F1A6B019E6}" type="slidenum">
              <a:rPr lang="en-US" smtClean="0"/>
              <a:t>27</a:t>
            </a:fld>
            <a:endParaRPr lang="en-US"/>
          </a:p>
        </p:txBody>
      </p:sp>
    </p:spTree>
    <p:extLst>
      <p:ext uri="{BB962C8B-B14F-4D97-AF65-F5344CB8AC3E}">
        <p14:creationId xmlns:p14="http://schemas.microsoft.com/office/powerpoint/2010/main" val="15208935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28</a:t>
            </a:fld>
            <a:endParaRPr lang="en-US" altLang="zh-CN" noProof="0" dirty="0"/>
          </a:p>
        </p:txBody>
      </p:sp>
    </p:spTree>
    <p:extLst>
      <p:ext uri="{BB962C8B-B14F-4D97-AF65-F5344CB8AC3E}">
        <p14:creationId xmlns:p14="http://schemas.microsoft.com/office/powerpoint/2010/main" val="3077670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sz="1800" dirty="0"/>
              <a:t>The Scale &amp; Impact of the Shift to EVs Among Malaysian Drivers</a:t>
            </a:r>
            <a:endParaRPr lang="en-US" altLang="zh-CN" noProof="0" dirty="0"/>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5966"/>
            <a:ext cx="4518292" cy="367080"/>
          </a:xfrm>
        </p:spPr>
        <p:txBody>
          <a:bodyPr/>
          <a:lstStyle>
            <a:lvl1pPr>
              <a:defRPr>
                <a:solidFill>
                  <a:schemeClr val="accent6"/>
                </a:solidFill>
              </a:defRPr>
            </a:lvl1pPr>
          </a:lstStyle>
          <a:p>
            <a:r>
              <a:rPr lang="en-US" altLang="zh-CN" sz="1200" dirty="0"/>
              <a:t>The Scale &amp; Impact of the Shift to EVs Among Malaysian Drivers</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a:xfrm>
            <a:off x="484631" y="6217920"/>
            <a:ext cx="4549823" cy="365125"/>
          </a:xfrm>
        </p:spPr>
        <p:txBody>
          <a:bodyPr>
            <a:noAutofit/>
          </a:bodyPr>
          <a:lstStyle>
            <a:lvl1pPr>
              <a:defRPr>
                <a:solidFill>
                  <a:schemeClr val="accent6"/>
                </a:solidFill>
              </a:defRPr>
            </a:lvl1pPr>
          </a:lstStyle>
          <a:p>
            <a:r>
              <a:rPr lang="en-US" altLang="zh-CN" sz="1200" dirty="0"/>
              <a:t>The Scale &amp; Impact of the Shift to EVs Among Malaysian Drivers</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dirty="0"/>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a:xfrm>
            <a:off x="484631" y="6217920"/>
            <a:ext cx="4665437" cy="365125"/>
          </a:xfrm>
        </p:spPr>
        <p:txBody>
          <a:bodyPr/>
          <a:lstStyle>
            <a:lvl1pPr>
              <a:defRPr>
                <a:solidFill>
                  <a:schemeClr val="accent6"/>
                </a:solidFill>
              </a:defRPr>
            </a:lvl1pPr>
          </a:lstStyle>
          <a:p>
            <a:r>
              <a:rPr lang="en-US" altLang="zh-CN" sz="1200" dirty="0"/>
              <a:t>The Scale &amp; Impact of the Shift to EVs Among Malaysian Drivers</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a:xfrm>
            <a:off x="484632" y="6217920"/>
            <a:ext cx="4749520" cy="365125"/>
          </a:xfrm>
        </p:spPr>
        <p:txBody>
          <a:bodyPr>
            <a:noAutofit/>
          </a:bodyPr>
          <a:lstStyle>
            <a:lvl1pPr>
              <a:defRPr>
                <a:solidFill>
                  <a:schemeClr val="accent6"/>
                </a:solidFill>
              </a:defRPr>
            </a:lvl1pPr>
          </a:lstStyle>
          <a:p>
            <a:r>
              <a:rPr lang="en-US" altLang="zh-CN" sz="1200" dirty="0"/>
              <a:t>The Scale &amp; Impact of the Shift to EVs Among Malaysian Drivers</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a:xfrm>
            <a:off x="484632" y="6217920"/>
            <a:ext cx="4886154" cy="365125"/>
          </a:xfrm>
        </p:spPr>
        <p:txBody>
          <a:bodyPr>
            <a:noAutofit/>
          </a:bodyPr>
          <a:lstStyle/>
          <a:p>
            <a:r>
              <a:rPr lang="en-US" altLang="zh-CN" sz="1200" dirty="0"/>
              <a:t>The Scale &amp; Impact of the Shift to EVs Among Malaysian Drivers</a:t>
            </a:r>
            <a:endParaRPr lang="en-US"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a:xfrm>
            <a:off x="484632" y="6217920"/>
            <a:ext cx="4633906" cy="365125"/>
          </a:xfrm>
        </p:spPr>
        <p:txBody>
          <a:bodyPr>
            <a:noAutofit/>
          </a:bodyPr>
          <a:lstStyle>
            <a:lvl1pPr>
              <a:defRPr>
                <a:solidFill>
                  <a:schemeClr val="accent6"/>
                </a:solidFill>
              </a:defRPr>
            </a:lvl1pPr>
          </a:lstStyle>
          <a:p>
            <a:r>
              <a:rPr lang="en-US" altLang="zh-CN" sz="1200" dirty="0"/>
              <a:t>The Scale &amp; Impact of the Shift to EVs Among Malaysian Drivers</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a:xfrm>
            <a:off x="484631" y="6206850"/>
            <a:ext cx="4790747" cy="376195"/>
          </a:xfrm>
        </p:spPr>
        <p:txBody>
          <a:bodyPr>
            <a:noAutofit/>
          </a:bodyPr>
          <a:lstStyle>
            <a:lvl1pPr>
              <a:defRPr>
                <a:solidFill>
                  <a:schemeClr val="accent6"/>
                </a:solidFill>
              </a:defRPr>
            </a:lvl1pPr>
          </a:lstStyle>
          <a:p>
            <a:r>
              <a:rPr lang="en-US" altLang="zh-CN" sz="1200" dirty="0"/>
              <a:t>The Scale &amp; Impact of the Shift to EVs Among Malaysian Drivers</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a:xfrm>
            <a:off x="484632" y="6264381"/>
            <a:ext cx="4678680" cy="318664"/>
          </a:xfrm>
        </p:spPr>
        <p:txBody>
          <a:bodyPr>
            <a:noAutofit/>
          </a:bodyPr>
          <a:lstStyle/>
          <a:p>
            <a:r>
              <a:rPr lang="en-US" altLang="zh-CN" sz="1200" dirty="0"/>
              <a:t>The Scale &amp; Impact of the Shift to EVs Among Malaysian Drivers</a:t>
            </a:r>
            <a:endParaRPr lang="en-US"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a:xfrm>
            <a:off x="484632" y="6330483"/>
            <a:ext cx="4812582" cy="252562"/>
          </a:xfrm>
        </p:spPr>
        <p:txBody>
          <a:bodyPr>
            <a:noAutofit/>
          </a:bodyPr>
          <a:lstStyle>
            <a:lvl1pPr>
              <a:defRPr>
                <a:solidFill>
                  <a:schemeClr val="accent6"/>
                </a:solidFill>
              </a:defRPr>
            </a:lvl1pPr>
          </a:lstStyle>
          <a:p>
            <a:r>
              <a:rPr lang="en-US" altLang="zh-CN" sz="1200" dirty="0"/>
              <a:t>The Scale &amp; Impact of the Shift to EVs Among Malaysian Drivers</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a:xfrm>
            <a:off x="484632" y="6217920"/>
            <a:ext cx="4833602" cy="365125"/>
          </a:xfrm>
        </p:spPr>
        <p:txBody>
          <a:bodyPr>
            <a:noAutofit/>
          </a:bodyPr>
          <a:lstStyle>
            <a:lvl1pPr>
              <a:defRPr>
                <a:solidFill>
                  <a:schemeClr val="accent6"/>
                </a:solidFill>
              </a:defRPr>
            </a:lvl1pPr>
          </a:lstStyle>
          <a:p>
            <a:r>
              <a:rPr lang="en-US" altLang="zh-CN" sz="1200" dirty="0"/>
              <a:t>The Scale &amp; Impact of the Shift to EVs Among Malaysian Drivers</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hyperlink" Target="https://pixabay.com/th/%E0%B8%81%E0%B8%A3%E0%B8%A7%E0%B8%A2%E0%B8%88%E0%B8%A3%E0%B8%B2%E0%B8%88%E0%B8%A3-%E0%B8%81%E0%B8%A3%E0%B8%A7%E0%B8%A2%E0%B8%84%E0%B8%A7%E0%B8%B2%E0%B8%A1%E0%B8%9B%E0%B8%A5%E0%B8%AD%E0%B8%94%E0%B8%A0%E0%B8%B1%E0%B8%A2-%E0%B8%81%E0%B8%A3%E0%B8%A7%E0%B8%A2%E0%B8%96%E0%B8%99%E0%B8%99-31883/"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hyperlink" Target="https://luca.co.in/electric-vehicle/" TargetMode="External"/><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p:txBody>
          <a:bodyPr/>
          <a:lstStyle/>
          <a:p>
            <a:r>
              <a:rPr lang="en-US" altLang="zh-CN" sz="4000" dirty="0"/>
              <a:t>The Scale &amp; Impact of the Shift to EVs Among Malaysian Drivers</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p:txBody>
          <a:bodyPr/>
          <a:lstStyle/>
          <a:p>
            <a:r>
              <a:rPr lang="en-US" dirty="0"/>
              <a:t>Tee Le Peng</a:t>
            </a:r>
          </a:p>
        </p:txBody>
      </p:sp>
      <p:pic>
        <p:nvPicPr>
          <p:cNvPr id="30" name="Picture placeholder 29">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a:blip r:embed="rId3"/>
          <a:srcRect l="13218" r="13218"/>
          <a:stretch/>
        </p:blipFill>
        <p:spPr>
          <a:xfrm>
            <a:off x="6742557" y="821836"/>
            <a:ext cx="4405503" cy="5066346"/>
          </a:xfrm>
        </p:spPr>
      </p:pic>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Title 6">
            <a:extLst>
              <a:ext uri="{FF2B5EF4-FFF2-40B4-BE49-F238E27FC236}">
                <a16:creationId xmlns:a16="http://schemas.microsoft.com/office/drawing/2014/main" id="{8090B6B7-75A9-AF19-578A-09A70EC314B2}"/>
              </a:ext>
            </a:extLst>
          </p:cNvPr>
          <p:cNvSpPr txBox="1">
            <a:spLocks/>
          </p:cNvSpPr>
          <p:nvPr/>
        </p:nvSpPr>
        <p:spPr>
          <a:xfrm>
            <a:off x="1484764" y="1116768"/>
            <a:ext cx="8025339" cy="80629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r>
              <a:rPr lang="en-US" altLang="zh-CN" sz="2400" dirty="0">
                <a:solidFill>
                  <a:srgbClr val="263E5A"/>
                </a:solidFill>
              </a:rPr>
              <a:t>Forward College Professional Certificate in Data Analytics</a:t>
            </a: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452D5D18-55B8-2C24-DF64-11288F6AAD77}"/>
              </a:ext>
            </a:extLst>
          </p:cNvPr>
          <p:cNvSpPr>
            <a:spLocks noGrp="1"/>
          </p:cNvSpPr>
          <p:nvPr>
            <p:ph type="ftr" sz="quarter" idx="28"/>
          </p:nvPr>
        </p:nvSpPr>
        <p:spPr>
          <a:xfrm>
            <a:off x="484632" y="6116320"/>
            <a:ext cx="4514342" cy="466725"/>
          </a:xfrm>
        </p:spPr>
        <p:txBody>
          <a:bodyPr/>
          <a:lstStyle/>
          <a:p>
            <a:r>
              <a:rPr lang="en-US" altLang="zh-CN" dirty="0"/>
              <a:t>The Scale &amp; Impact of the Shift to EVs Among Malaysian Drivers</a:t>
            </a:r>
            <a:endParaRPr lang="en-US" dirty="0"/>
          </a:p>
        </p:txBody>
      </p:sp>
      <p:sp>
        <p:nvSpPr>
          <p:cNvPr id="9" name="Slide Number Placeholder 8">
            <a:extLst>
              <a:ext uri="{FF2B5EF4-FFF2-40B4-BE49-F238E27FC236}">
                <a16:creationId xmlns:a16="http://schemas.microsoft.com/office/drawing/2014/main" id="{AC234983-AA82-2C07-E0D9-142A9A7D7367}"/>
              </a:ext>
            </a:extLst>
          </p:cNvPr>
          <p:cNvSpPr>
            <a:spLocks noGrp="1"/>
          </p:cNvSpPr>
          <p:nvPr>
            <p:ph type="sldNum" sz="quarter" idx="29"/>
          </p:nvPr>
        </p:nvSpPr>
        <p:spPr/>
        <p:txBody>
          <a:bodyPr/>
          <a:lstStyle/>
          <a:p>
            <a:fld id="{47FEACEE-25B4-4A2D-B147-27296E36371D}" type="slidenum">
              <a:rPr lang="en-US" altLang="zh-CN" smtClean="0"/>
              <a:pPr/>
              <a:t>2</a:t>
            </a:fld>
            <a:endParaRPr lang="en-US" altLang="zh-CN" dirty="0"/>
          </a:p>
        </p:txBody>
      </p:sp>
      <p:sp>
        <p:nvSpPr>
          <p:cNvPr id="14" name="Hexagon 13">
            <a:extLst>
              <a:ext uri="{FF2B5EF4-FFF2-40B4-BE49-F238E27FC236}">
                <a16:creationId xmlns:a16="http://schemas.microsoft.com/office/drawing/2014/main" id="{DA175F55-6AB8-5A07-4402-9C8B5301C40B}"/>
              </a:ext>
            </a:extLst>
          </p:cNvPr>
          <p:cNvSpPr/>
          <p:nvPr/>
        </p:nvSpPr>
        <p:spPr>
          <a:xfrm rot="5400000">
            <a:off x="4902837" y="2745326"/>
            <a:ext cx="2130758" cy="1914694"/>
          </a:xfrm>
          <a:prstGeom prst="hexag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Hexagon 18">
            <a:extLst>
              <a:ext uri="{FF2B5EF4-FFF2-40B4-BE49-F238E27FC236}">
                <a16:creationId xmlns:a16="http://schemas.microsoft.com/office/drawing/2014/main" id="{A2C671FA-97A9-023F-A36B-DB08D1E28948}"/>
              </a:ext>
            </a:extLst>
          </p:cNvPr>
          <p:cNvSpPr/>
          <p:nvPr/>
        </p:nvSpPr>
        <p:spPr>
          <a:xfrm rot="5400000">
            <a:off x="10186213" y="4433689"/>
            <a:ext cx="2130758" cy="1914694"/>
          </a:xfrm>
          <a:prstGeom prst="hexag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Hexagon 19">
            <a:extLst>
              <a:ext uri="{FF2B5EF4-FFF2-40B4-BE49-F238E27FC236}">
                <a16:creationId xmlns:a16="http://schemas.microsoft.com/office/drawing/2014/main" id="{71B24E15-CDFC-E992-20FC-435755ACB36F}"/>
              </a:ext>
            </a:extLst>
          </p:cNvPr>
          <p:cNvSpPr/>
          <p:nvPr/>
        </p:nvSpPr>
        <p:spPr>
          <a:xfrm rot="5400000">
            <a:off x="11169926" y="2640375"/>
            <a:ext cx="2130758" cy="1914694"/>
          </a:xfrm>
          <a:prstGeom prst="hexag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Hexagon 20">
            <a:extLst>
              <a:ext uri="{FF2B5EF4-FFF2-40B4-BE49-F238E27FC236}">
                <a16:creationId xmlns:a16="http://schemas.microsoft.com/office/drawing/2014/main" id="{2A97F01C-07BF-CDEF-6F53-26EB5DF164D1}"/>
              </a:ext>
            </a:extLst>
          </p:cNvPr>
          <p:cNvSpPr/>
          <p:nvPr/>
        </p:nvSpPr>
        <p:spPr>
          <a:xfrm rot="5400000">
            <a:off x="10082766" y="941847"/>
            <a:ext cx="2130758" cy="1914694"/>
          </a:xfrm>
          <a:prstGeom prst="hexag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5" name="Group 24">
            <a:extLst>
              <a:ext uri="{FF2B5EF4-FFF2-40B4-BE49-F238E27FC236}">
                <a16:creationId xmlns:a16="http://schemas.microsoft.com/office/drawing/2014/main" id="{22AACC2F-72F8-CA4E-B9C2-6239B51C836A}"/>
              </a:ext>
            </a:extLst>
          </p:cNvPr>
          <p:cNvGrpSpPr/>
          <p:nvPr/>
        </p:nvGrpSpPr>
        <p:grpSpPr>
          <a:xfrm>
            <a:off x="6033828" y="833815"/>
            <a:ext cx="1924183" cy="2130758"/>
            <a:chOff x="6255392" y="814508"/>
            <a:chExt cx="1924183" cy="2130758"/>
          </a:xfrm>
        </p:grpSpPr>
        <p:sp>
          <p:nvSpPr>
            <p:cNvPr id="12" name="Hexagon 11">
              <a:extLst>
                <a:ext uri="{FF2B5EF4-FFF2-40B4-BE49-F238E27FC236}">
                  <a16:creationId xmlns:a16="http://schemas.microsoft.com/office/drawing/2014/main" id="{7705967C-7387-105E-5D7D-63464C3D2101}"/>
                </a:ext>
              </a:extLst>
            </p:cNvPr>
            <p:cNvSpPr/>
            <p:nvPr/>
          </p:nvSpPr>
          <p:spPr>
            <a:xfrm rot="5400000">
              <a:off x="6147360" y="922540"/>
              <a:ext cx="2130758" cy="1914694"/>
            </a:xfrm>
            <a:prstGeom prst="hexagon">
              <a:avLst/>
            </a:prstGeom>
            <a:solidFill>
              <a:srgbClr val="FABE7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TextBox 21">
              <a:extLst>
                <a:ext uri="{FF2B5EF4-FFF2-40B4-BE49-F238E27FC236}">
                  <a16:creationId xmlns:a16="http://schemas.microsoft.com/office/drawing/2014/main" id="{621B3626-8E46-0850-1A73-BC34AD300795}"/>
                </a:ext>
              </a:extLst>
            </p:cNvPr>
            <p:cNvSpPr txBox="1"/>
            <p:nvPr/>
          </p:nvSpPr>
          <p:spPr>
            <a:xfrm>
              <a:off x="6264881" y="1713651"/>
              <a:ext cx="1914694" cy="369332"/>
            </a:xfrm>
            <a:prstGeom prst="rect">
              <a:avLst/>
            </a:prstGeom>
          </p:spPr>
          <p:txBody>
            <a:bodyPr wrap="square" rtlCol="0">
              <a:spAutoFit/>
            </a:bodyPr>
            <a:lstStyle/>
            <a:p>
              <a:pPr marL="0" indent="0" algn="ctr">
                <a:lnSpc>
                  <a:spcPct val="100000"/>
                </a:lnSpc>
                <a:spcBef>
                  <a:spcPts val="0"/>
                </a:spcBef>
                <a:buFontTx/>
                <a:buNone/>
              </a:pPr>
              <a:r>
                <a:rPr lang="en-US" sz="1800" dirty="0">
                  <a:solidFill>
                    <a:srgbClr val="263E5A"/>
                  </a:solidFill>
                  <a:ea typeface="微软雅黑"/>
                  <a:cs typeface="Posterama" panose="020B0504020200020000" pitchFamily="34" charset="0"/>
                </a:rPr>
                <a:t>Introduction</a:t>
              </a:r>
              <a:endParaRPr lang="en-SG" sz="1800" dirty="0">
                <a:solidFill>
                  <a:srgbClr val="263E5A"/>
                </a:solidFill>
                <a:ea typeface="微软雅黑"/>
                <a:cs typeface="Posterama" panose="020B0504020200020000" pitchFamily="34" charset="0"/>
              </a:endParaRPr>
            </a:p>
          </p:txBody>
        </p:sp>
      </p:grpSp>
      <p:grpSp>
        <p:nvGrpSpPr>
          <p:cNvPr id="26" name="Group 25">
            <a:extLst>
              <a:ext uri="{FF2B5EF4-FFF2-40B4-BE49-F238E27FC236}">
                <a16:creationId xmlns:a16="http://schemas.microsoft.com/office/drawing/2014/main" id="{7F039D96-DC01-9D59-FDA3-CB8831720CBD}"/>
              </a:ext>
            </a:extLst>
          </p:cNvPr>
          <p:cNvGrpSpPr/>
          <p:nvPr/>
        </p:nvGrpSpPr>
        <p:grpSpPr>
          <a:xfrm>
            <a:off x="8072864" y="833815"/>
            <a:ext cx="1949706" cy="2130758"/>
            <a:chOff x="8179575" y="814508"/>
            <a:chExt cx="1949706" cy="2130758"/>
          </a:xfrm>
        </p:grpSpPr>
        <p:sp>
          <p:nvSpPr>
            <p:cNvPr id="13" name="Hexagon 12">
              <a:extLst>
                <a:ext uri="{FF2B5EF4-FFF2-40B4-BE49-F238E27FC236}">
                  <a16:creationId xmlns:a16="http://schemas.microsoft.com/office/drawing/2014/main" id="{9161296F-5ED5-64F4-37C7-C26BB20BD3AA}"/>
                </a:ext>
              </a:extLst>
            </p:cNvPr>
            <p:cNvSpPr/>
            <p:nvPr/>
          </p:nvSpPr>
          <p:spPr>
            <a:xfrm rot="5400000">
              <a:off x="8106555" y="922540"/>
              <a:ext cx="2130758" cy="1914694"/>
            </a:xfrm>
            <a:prstGeom prst="hexagon">
              <a:avLst/>
            </a:prstGeom>
            <a:solidFill>
              <a:srgbClr val="FABE7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TextBox 22">
              <a:extLst>
                <a:ext uri="{FF2B5EF4-FFF2-40B4-BE49-F238E27FC236}">
                  <a16:creationId xmlns:a16="http://schemas.microsoft.com/office/drawing/2014/main" id="{93D79BFF-9FF1-9322-0CEE-0AD908BF7BEF}"/>
                </a:ext>
              </a:extLst>
            </p:cNvPr>
            <p:cNvSpPr txBox="1"/>
            <p:nvPr/>
          </p:nvSpPr>
          <p:spPr>
            <a:xfrm>
              <a:off x="8179575" y="1713651"/>
              <a:ext cx="1914694" cy="369332"/>
            </a:xfrm>
            <a:prstGeom prst="rect">
              <a:avLst/>
            </a:prstGeom>
          </p:spPr>
          <p:txBody>
            <a:bodyPr wrap="square" rtlCol="0">
              <a:spAutoFit/>
            </a:bodyPr>
            <a:lstStyle/>
            <a:p>
              <a:pPr marL="0" indent="0" algn="ctr">
                <a:lnSpc>
                  <a:spcPct val="100000"/>
                </a:lnSpc>
                <a:spcBef>
                  <a:spcPts val="0"/>
                </a:spcBef>
                <a:buFontTx/>
                <a:buNone/>
              </a:pPr>
              <a:r>
                <a:rPr lang="en-US" sz="1800" dirty="0">
                  <a:solidFill>
                    <a:srgbClr val="263E5A"/>
                  </a:solidFill>
                  <a:ea typeface="微软雅黑"/>
                  <a:cs typeface="Posterama" panose="020B0504020200020000" pitchFamily="34" charset="0"/>
                </a:rPr>
                <a:t>Literature Review</a:t>
              </a:r>
              <a:endParaRPr lang="en-SG" sz="1800" dirty="0">
                <a:solidFill>
                  <a:srgbClr val="263E5A"/>
                </a:solidFill>
                <a:ea typeface="微软雅黑"/>
                <a:cs typeface="Posterama" panose="020B0504020200020000" pitchFamily="34" charset="0"/>
              </a:endParaRPr>
            </a:p>
          </p:txBody>
        </p:sp>
      </p:grpSp>
      <p:grpSp>
        <p:nvGrpSpPr>
          <p:cNvPr id="36" name="Group 35">
            <a:extLst>
              <a:ext uri="{FF2B5EF4-FFF2-40B4-BE49-F238E27FC236}">
                <a16:creationId xmlns:a16="http://schemas.microsoft.com/office/drawing/2014/main" id="{80ABDF07-111C-ADC6-B76A-A2A32A1ADD8F}"/>
              </a:ext>
            </a:extLst>
          </p:cNvPr>
          <p:cNvGrpSpPr/>
          <p:nvPr/>
        </p:nvGrpSpPr>
        <p:grpSpPr>
          <a:xfrm>
            <a:off x="7079675" y="2624953"/>
            <a:ext cx="1949706" cy="2130758"/>
            <a:chOff x="7275452" y="2541708"/>
            <a:chExt cx="1949706" cy="2130758"/>
          </a:xfrm>
        </p:grpSpPr>
        <p:sp>
          <p:nvSpPr>
            <p:cNvPr id="15" name="Hexagon 14">
              <a:extLst>
                <a:ext uri="{FF2B5EF4-FFF2-40B4-BE49-F238E27FC236}">
                  <a16:creationId xmlns:a16="http://schemas.microsoft.com/office/drawing/2014/main" id="{6752C831-9124-1F6E-568B-12596565194D}"/>
                </a:ext>
              </a:extLst>
            </p:cNvPr>
            <p:cNvSpPr/>
            <p:nvPr/>
          </p:nvSpPr>
          <p:spPr>
            <a:xfrm rot="5400000">
              <a:off x="7167420" y="2649740"/>
              <a:ext cx="2130758" cy="1914694"/>
            </a:xfrm>
            <a:prstGeom prst="hexagon">
              <a:avLst/>
            </a:prstGeom>
            <a:solidFill>
              <a:srgbClr val="FABE7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TextBox 23">
              <a:extLst>
                <a:ext uri="{FF2B5EF4-FFF2-40B4-BE49-F238E27FC236}">
                  <a16:creationId xmlns:a16="http://schemas.microsoft.com/office/drawing/2014/main" id="{E316DDAE-0F84-7FBD-2684-A4760AC275A9}"/>
                </a:ext>
              </a:extLst>
            </p:cNvPr>
            <p:cNvSpPr txBox="1"/>
            <p:nvPr/>
          </p:nvSpPr>
          <p:spPr>
            <a:xfrm>
              <a:off x="7310464" y="3273883"/>
              <a:ext cx="1914694" cy="646331"/>
            </a:xfrm>
            <a:prstGeom prst="rect">
              <a:avLst/>
            </a:prstGeom>
          </p:spPr>
          <p:txBody>
            <a:bodyPr wrap="square" rtlCol="0">
              <a:spAutoFit/>
            </a:bodyPr>
            <a:lstStyle/>
            <a:p>
              <a:pPr marL="0" indent="0" algn="ctr">
                <a:lnSpc>
                  <a:spcPct val="100000"/>
                </a:lnSpc>
                <a:spcBef>
                  <a:spcPts val="0"/>
                </a:spcBef>
                <a:buFontTx/>
                <a:buNone/>
              </a:pPr>
              <a:r>
                <a:rPr lang="en-US" sz="1800" dirty="0">
                  <a:solidFill>
                    <a:srgbClr val="263E5A"/>
                  </a:solidFill>
                  <a:ea typeface="微软雅黑"/>
                  <a:cs typeface="Posterama" panose="020B0504020200020000" pitchFamily="34" charset="0"/>
                </a:rPr>
                <a:t>Project Objectives</a:t>
              </a:r>
              <a:endParaRPr lang="en-SG" sz="1800" dirty="0">
                <a:solidFill>
                  <a:srgbClr val="263E5A"/>
                </a:solidFill>
                <a:ea typeface="微软雅黑"/>
                <a:cs typeface="Posterama" panose="020B0504020200020000" pitchFamily="34" charset="0"/>
              </a:endParaRPr>
            </a:p>
          </p:txBody>
        </p:sp>
      </p:grpSp>
      <p:grpSp>
        <p:nvGrpSpPr>
          <p:cNvPr id="35" name="Group 34">
            <a:extLst>
              <a:ext uri="{FF2B5EF4-FFF2-40B4-BE49-F238E27FC236}">
                <a16:creationId xmlns:a16="http://schemas.microsoft.com/office/drawing/2014/main" id="{E09A0D97-0068-40AD-CFDC-6C5DC76D4ABE}"/>
              </a:ext>
            </a:extLst>
          </p:cNvPr>
          <p:cNvGrpSpPr/>
          <p:nvPr/>
        </p:nvGrpSpPr>
        <p:grpSpPr>
          <a:xfrm>
            <a:off x="9160605" y="2579736"/>
            <a:ext cx="1951117" cy="2130758"/>
            <a:chOff x="9188735" y="2541708"/>
            <a:chExt cx="1951117" cy="2130758"/>
          </a:xfrm>
        </p:grpSpPr>
        <p:sp>
          <p:nvSpPr>
            <p:cNvPr id="16" name="Hexagon 15">
              <a:extLst>
                <a:ext uri="{FF2B5EF4-FFF2-40B4-BE49-F238E27FC236}">
                  <a16:creationId xmlns:a16="http://schemas.microsoft.com/office/drawing/2014/main" id="{39175780-22B7-EBF0-2DF7-BDDE511D0D39}"/>
                </a:ext>
              </a:extLst>
            </p:cNvPr>
            <p:cNvSpPr/>
            <p:nvPr/>
          </p:nvSpPr>
          <p:spPr>
            <a:xfrm rot="5400000">
              <a:off x="9117126" y="2649740"/>
              <a:ext cx="2130758" cy="1914694"/>
            </a:xfrm>
            <a:prstGeom prst="hexagon">
              <a:avLst/>
            </a:prstGeom>
            <a:solidFill>
              <a:srgbClr val="FABE7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F748D911-75A3-15A2-6AA0-1AACA801D72F}"/>
                </a:ext>
              </a:extLst>
            </p:cNvPr>
            <p:cNvSpPr txBox="1"/>
            <p:nvPr/>
          </p:nvSpPr>
          <p:spPr>
            <a:xfrm>
              <a:off x="9188735" y="3422421"/>
              <a:ext cx="1914694" cy="369332"/>
            </a:xfrm>
            <a:prstGeom prst="rect">
              <a:avLst/>
            </a:prstGeom>
          </p:spPr>
          <p:txBody>
            <a:bodyPr wrap="square" rtlCol="0">
              <a:spAutoFit/>
            </a:bodyPr>
            <a:lstStyle/>
            <a:p>
              <a:pPr marL="0" indent="0" algn="ctr">
                <a:lnSpc>
                  <a:spcPct val="100000"/>
                </a:lnSpc>
                <a:spcBef>
                  <a:spcPts val="0"/>
                </a:spcBef>
                <a:buFontTx/>
                <a:buNone/>
              </a:pPr>
              <a:r>
                <a:rPr lang="en-US" sz="1800" dirty="0">
                  <a:solidFill>
                    <a:srgbClr val="263E5A"/>
                  </a:solidFill>
                  <a:ea typeface="微软雅黑"/>
                  <a:cs typeface="Posterama" panose="020B0504020200020000" pitchFamily="34" charset="0"/>
                </a:rPr>
                <a:t>Analysis</a:t>
              </a:r>
              <a:endParaRPr lang="en-SG" sz="1800" dirty="0">
                <a:solidFill>
                  <a:srgbClr val="263E5A"/>
                </a:solidFill>
                <a:ea typeface="微软雅黑"/>
                <a:cs typeface="Posterama" panose="020B0504020200020000" pitchFamily="34" charset="0"/>
              </a:endParaRPr>
            </a:p>
          </p:txBody>
        </p:sp>
      </p:grpSp>
      <p:grpSp>
        <p:nvGrpSpPr>
          <p:cNvPr id="37" name="Group 36">
            <a:extLst>
              <a:ext uri="{FF2B5EF4-FFF2-40B4-BE49-F238E27FC236}">
                <a16:creationId xmlns:a16="http://schemas.microsoft.com/office/drawing/2014/main" id="{76876089-438C-9F4F-FB80-ACA46F99BDD5}"/>
              </a:ext>
            </a:extLst>
          </p:cNvPr>
          <p:cNvGrpSpPr/>
          <p:nvPr/>
        </p:nvGrpSpPr>
        <p:grpSpPr>
          <a:xfrm>
            <a:off x="6086610" y="4383729"/>
            <a:ext cx="1949707" cy="2130758"/>
            <a:chOff x="6248080" y="4269724"/>
            <a:chExt cx="1949707" cy="2130758"/>
          </a:xfrm>
        </p:grpSpPr>
        <p:sp>
          <p:nvSpPr>
            <p:cNvPr id="17" name="Hexagon 16">
              <a:extLst>
                <a:ext uri="{FF2B5EF4-FFF2-40B4-BE49-F238E27FC236}">
                  <a16:creationId xmlns:a16="http://schemas.microsoft.com/office/drawing/2014/main" id="{ADD4FE4F-8627-0803-4E71-549BB6F2B571}"/>
                </a:ext>
              </a:extLst>
            </p:cNvPr>
            <p:cNvSpPr/>
            <p:nvPr/>
          </p:nvSpPr>
          <p:spPr>
            <a:xfrm rot="5400000">
              <a:off x="6140048" y="4377756"/>
              <a:ext cx="2130758" cy="1914694"/>
            </a:xfrm>
            <a:prstGeom prst="hexagon">
              <a:avLst/>
            </a:prstGeom>
            <a:solidFill>
              <a:srgbClr val="FABE7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TextBox 30">
              <a:extLst>
                <a:ext uri="{FF2B5EF4-FFF2-40B4-BE49-F238E27FC236}">
                  <a16:creationId xmlns:a16="http://schemas.microsoft.com/office/drawing/2014/main" id="{5AC80390-6A4F-FBDD-3FE9-8B4FF6079990}"/>
                </a:ext>
              </a:extLst>
            </p:cNvPr>
            <p:cNvSpPr txBox="1"/>
            <p:nvPr/>
          </p:nvSpPr>
          <p:spPr>
            <a:xfrm>
              <a:off x="6283093" y="5131191"/>
              <a:ext cx="1914694" cy="369332"/>
            </a:xfrm>
            <a:prstGeom prst="rect">
              <a:avLst/>
            </a:prstGeom>
          </p:spPr>
          <p:txBody>
            <a:bodyPr wrap="square" rtlCol="0">
              <a:spAutoFit/>
            </a:bodyPr>
            <a:lstStyle/>
            <a:p>
              <a:pPr marL="0" indent="0" algn="ctr">
                <a:lnSpc>
                  <a:spcPct val="100000"/>
                </a:lnSpc>
                <a:spcBef>
                  <a:spcPts val="0"/>
                </a:spcBef>
                <a:buFontTx/>
                <a:buNone/>
              </a:pPr>
              <a:r>
                <a:rPr lang="en-US" sz="1800" dirty="0">
                  <a:solidFill>
                    <a:srgbClr val="263E5A"/>
                  </a:solidFill>
                  <a:ea typeface="微软雅黑"/>
                  <a:cs typeface="Posterama" panose="020B0504020200020000" pitchFamily="34" charset="0"/>
                </a:rPr>
                <a:t>Discussion</a:t>
              </a:r>
              <a:endParaRPr lang="en-SG" sz="1800" dirty="0">
                <a:solidFill>
                  <a:srgbClr val="263E5A"/>
                </a:solidFill>
                <a:ea typeface="微软雅黑"/>
                <a:cs typeface="Posterama" panose="020B0504020200020000" pitchFamily="34" charset="0"/>
              </a:endParaRPr>
            </a:p>
          </p:txBody>
        </p:sp>
      </p:grpSp>
      <p:grpSp>
        <p:nvGrpSpPr>
          <p:cNvPr id="33" name="Group 32">
            <a:extLst>
              <a:ext uri="{FF2B5EF4-FFF2-40B4-BE49-F238E27FC236}">
                <a16:creationId xmlns:a16="http://schemas.microsoft.com/office/drawing/2014/main" id="{06EDD4A1-D993-9EC4-FEF3-BDF5673AA72D}"/>
              </a:ext>
            </a:extLst>
          </p:cNvPr>
          <p:cNvGrpSpPr/>
          <p:nvPr/>
        </p:nvGrpSpPr>
        <p:grpSpPr>
          <a:xfrm>
            <a:off x="8190428" y="4364483"/>
            <a:ext cx="1916105" cy="2130758"/>
            <a:chOff x="8231388" y="4269724"/>
            <a:chExt cx="1916105" cy="2130758"/>
          </a:xfrm>
        </p:grpSpPr>
        <p:sp>
          <p:nvSpPr>
            <p:cNvPr id="18" name="Hexagon 17">
              <a:extLst>
                <a:ext uri="{FF2B5EF4-FFF2-40B4-BE49-F238E27FC236}">
                  <a16:creationId xmlns:a16="http://schemas.microsoft.com/office/drawing/2014/main" id="{D118CA25-AAFE-5989-2C7A-AAAF1595ECC5}"/>
                </a:ext>
              </a:extLst>
            </p:cNvPr>
            <p:cNvSpPr/>
            <p:nvPr/>
          </p:nvSpPr>
          <p:spPr>
            <a:xfrm rot="5400000">
              <a:off x="8124767" y="4377756"/>
              <a:ext cx="2130758" cy="1914694"/>
            </a:xfrm>
            <a:prstGeom prst="hexagon">
              <a:avLst/>
            </a:prstGeom>
            <a:solidFill>
              <a:srgbClr val="FABE7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2" name="TextBox 31">
              <a:extLst>
                <a:ext uri="{FF2B5EF4-FFF2-40B4-BE49-F238E27FC236}">
                  <a16:creationId xmlns:a16="http://schemas.microsoft.com/office/drawing/2014/main" id="{3C198214-D9EC-808E-DC2A-81666E775C43}"/>
                </a:ext>
              </a:extLst>
            </p:cNvPr>
            <p:cNvSpPr txBox="1"/>
            <p:nvPr/>
          </p:nvSpPr>
          <p:spPr>
            <a:xfrm>
              <a:off x="8231388" y="5144349"/>
              <a:ext cx="1914694" cy="369332"/>
            </a:xfrm>
            <a:prstGeom prst="rect">
              <a:avLst/>
            </a:prstGeom>
          </p:spPr>
          <p:txBody>
            <a:bodyPr wrap="square" rtlCol="0">
              <a:spAutoFit/>
            </a:bodyPr>
            <a:lstStyle/>
            <a:p>
              <a:pPr marL="0" indent="0" algn="ctr">
                <a:lnSpc>
                  <a:spcPct val="100000"/>
                </a:lnSpc>
                <a:spcBef>
                  <a:spcPts val="0"/>
                </a:spcBef>
                <a:buFontTx/>
                <a:buNone/>
              </a:pPr>
              <a:r>
                <a:rPr lang="en-US" sz="1800" dirty="0">
                  <a:solidFill>
                    <a:srgbClr val="263E5A"/>
                  </a:solidFill>
                  <a:ea typeface="微软雅黑"/>
                  <a:cs typeface="Posterama" panose="020B0504020200020000" pitchFamily="34" charset="0"/>
                </a:rPr>
                <a:t>Conclusion</a:t>
              </a:r>
              <a:endParaRPr lang="en-SG" sz="1800" dirty="0">
                <a:solidFill>
                  <a:srgbClr val="263E5A"/>
                </a:solidFill>
                <a:ea typeface="微软雅黑"/>
                <a:cs typeface="Posterama" panose="020B0504020200020000" pitchFamily="34" charset="0"/>
              </a:endParaRPr>
            </a:p>
          </p:txBody>
        </p:sp>
      </p:grpSp>
      <p:sp>
        <p:nvSpPr>
          <p:cNvPr id="38" name="Title 18">
            <a:extLst>
              <a:ext uri="{FF2B5EF4-FFF2-40B4-BE49-F238E27FC236}">
                <a16:creationId xmlns:a16="http://schemas.microsoft.com/office/drawing/2014/main" id="{52741976-399E-CD15-644A-DF9716C5BE0F}"/>
              </a:ext>
            </a:extLst>
          </p:cNvPr>
          <p:cNvSpPr txBox="1">
            <a:spLocks/>
          </p:cNvSpPr>
          <p:nvPr/>
        </p:nvSpPr>
        <p:spPr>
          <a:xfrm>
            <a:off x="512572" y="3435545"/>
            <a:ext cx="4253399" cy="17401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r>
              <a:rPr lang="en-US" altLang="zh-CN" dirty="0"/>
              <a:t>Agenda</a:t>
            </a:r>
            <a:endParaRPr lang="en-US" dirty="0"/>
          </a:p>
        </p:txBody>
      </p:sp>
    </p:spTree>
    <p:extLst>
      <p:ext uri="{BB962C8B-B14F-4D97-AF65-F5344CB8AC3E}">
        <p14:creationId xmlns:p14="http://schemas.microsoft.com/office/powerpoint/2010/main" val="2822682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p:txBody>
          <a:bodyPr/>
          <a:lstStyle/>
          <a:p>
            <a:r>
              <a:rPr lang="en-US" altLang="zh-CN" dirty="0"/>
              <a:t>Introduction</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p:txBody>
          <a:bodyPr/>
          <a:lstStyle/>
          <a:p>
            <a:pPr marL="285750" indent="-285750">
              <a:buFont typeface="Arial" panose="020B0604020202020204" pitchFamily="34" charset="0"/>
              <a:buChar char="•"/>
            </a:pPr>
            <a:r>
              <a:rPr lang="en-US" dirty="0"/>
              <a:t>EVs are entering the mainstream in Malaysia thanks to government initiatives and affordable Chinese EV brands</a:t>
            </a:r>
          </a:p>
          <a:p>
            <a:pPr marL="285750" indent="-285750">
              <a:buFont typeface="Arial" panose="020B0604020202020204" pitchFamily="34" charset="0"/>
              <a:buChar char="•"/>
            </a:pPr>
            <a:r>
              <a:rPr lang="en-US" dirty="0"/>
              <a:t>To what extent the EV adoption has picked up its momentum?</a:t>
            </a:r>
          </a:p>
          <a:p>
            <a:pPr marL="285750" indent="-285750">
              <a:buFont typeface="Arial" panose="020B0604020202020204" pitchFamily="34" charset="0"/>
              <a:buChar char="•"/>
            </a:pPr>
            <a:r>
              <a:rPr lang="en-US" dirty="0"/>
              <a:t>How has it impacted the different players the MY automobile market?</a:t>
            </a:r>
          </a:p>
          <a:p>
            <a:pPr marL="285750" indent="-285750">
              <a:buFont typeface="Arial" panose="020B0604020202020204" pitchFamily="34" charset="0"/>
              <a:buChar char="•"/>
            </a:pPr>
            <a:r>
              <a:rPr lang="en-US" dirty="0"/>
              <a:t>What are consumers’ consideration points with regard to owning an EV?</a:t>
            </a:r>
          </a:p>
          <a:p>
            <a:endParaRPr lang="en-US" dirty="0"/>
          </a:p>
          <a:p>
            <a:endParaRPr lang="en-US" dirty="0"/>
          </a:p>
        </p:txBody>
      </p:sp>
      <p:sp>
        <p:nvSpPr>
          <p:cNvPr id="4" name="Footer Placeholder 3">
            <a:extLst>
              <a:ext uri="{FF2B5EF4-FFF2-40B4-BE49-F238E27FC236}">
                <a16:creationId xmlns:a16="http://schemas.microsoft.com/office/drawing/2014/main" id="{0A01EC1F-42C9-66C4-9D49-F6AF79D5BE91}"/>
              </a:ext>
            </a:extLst>
          </p:cNvPr>
          <p:cNvSpPr>
            <a:spLocks noGrp="1"/>
          </p:cNvSpPr>
          <p:nvPr>
            <p:ph type="ftr" sz="quarter" idx="52"/>
          </p:nvPr>
        </p:nvSpPr>
        <p:spPr>
          <a:xfrm>
            <a:off x="484632" y="6217920"/>
            <a:ext cx="4721130" cy="365125"/>
          </a:xfrm>
        </p:spPr>
        <p:txBody>
          <a:bodyPr/>
          <a:lstStyle/>
          <a:p>
            <a:r>
              <a:rPr lang="en-US" altLang="zh-CN" dirty="0"/>
              <a:t>The Scale &amp; Impact of the Shift to EVs Among Malaysian Drivers</a:t>
            </a:r>
            <a:endParaRPr lang="en-US" dirty="0"/>
          </a:p>
        </p:txBody>
      </p:sp>
      <p:pic>
        <p:nvPicPr>
          <p:cNvPr id="12" name="Picture Placeholder 11">
            <a:extLst>
              <a:ext uri="{FF2B5EF4-FFF2-40B4-BE49-F238E27FC236}">
                <a16:creationId xmlns:a16="http://schemas.microsoft.com/office/drawing/2014/main" id="{8C4B5C6A-45B4-1976-622A-4CEB4E3211BC}"/>
              </a:ext>
            </a:extLst>
          </p:cNvPr>
          <p:cNvPicPr>
            <a:picLocks noGrp="1" noChangeAspect="1"/>
          </p:cNvPicPr>
          <p:nvPr>
            <p:ph type="pic" sz="quarter" idx="51"/>
          </p:nvPr>
        </p:nvPicPr>
        <p:blipFill>
          <a:blip r:embed="rId3"/>
          <a:srcRect/>
          <a:stretch/>
        </p:blipFill>
        <p:spPr/>
      </p:pic>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7D952"/>
              </a:solidFill>
              <a:effectLst/>
              <a:uLnTx/>
              <a:uFillTx/>
              <a:latin typeface="Posterama Text SemiBold"/>
              <a:ea typeface="+mn-ea"/>
              <a:cs typeface="+mn-cs"/>
            </a:endParaRP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p:txBody>
          <a:bodyPr/>
          <a:lstStyle/>
          <a:p>
            <a:fld id="{47FEACEE-25B4-4A2D-B147-27296E36371D}" type="slidenum">
              <a:rPr lang="en-US" altLang="zh-CN" smtClean="0"/>
              <a:pPr/>
              <a:t>3</a:t>
            </a:fld>
            <a:endParaRPr lang="en-US" altLang="zh-CN" dirty="0"/>
          </a:p>
        </p:txBody>
      </p:sp>
    </p:spTree>
    <p:extLst>
      <p:ext uri="{BB962C8B-B14F-4D97-AF65-F5344CB8AC3E}">
        <p14:creationId xmlns:p14="http://schemas.microsoft.com/office/powerpoint/2010/main" val="77554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BBCB75E8-D792-7EA1-C081-2A51FF8E5502}"/>
              </a:ext>
            </a:extLst>
          </p:cNvPr>
          <p:cNvSpPr>
            <a:spLocks noGrp="1"/>
          </p:cNvSpPr>
          <p:nvPr>
            <p:ph type="body" sz="quarter" idx="27"/>
          </p:nvPr>
        </p:nvSpPr>
        <p:spPr/>
        <p:txBody>
          <a:bodyPr/>
          <a:lstStyle/>
          <a:p>
            <a:r>
              <a:rPr lang="en-US" sz="2400" b="0" dirty="0"/>
              <a:t>Challenges of EV adoption in Malaysia</a:t>
            </a:r>
            <a:endParaRPr lang="en-US" sz="2400" dirty="0"/>
          </a:p>
        </p:txBody>
      </p:sp>
      <p:sp>
        <p:nvSpPr>
          <p:cNvPr id="9" name="Text Placeholder 8">
            <a:extLst>
              <a:ext uri="{FF2B5EF4-FFF2-40B4-BE49-F238E27FC236}">
                <a16:creationId xmlns:a16="http://schemas.microsoft.com/office/drawing/2014/main" id="{7F1E3595-6971-FD31-AD12-85896CCDAE34}"/>
              </a:ext>
            </a:extLst>
          </p:cNvPr>
          <p:cNvSpPr>
            <a:spLocks noGrp="1"/>
          </p:cNvSpPr>
          <p:nvPr>
            <p:ph type="body" sz="quarter" idx="28"/>
          </p:nvPr>
        </p:nvSpPr>
        <p:spPr/>
        <p:txBody>
          <a:bodyPr/>
          <a:lstStyle/>
          <a:p>
            <a:r>
              <a:rPr lang="en-US" sz="1800" dirty="0"/>
              <a:t>High cost of an EV</a:t>
            </a:r>
          </a:p>
          <a:p>
            <a:r>
              <a:rPr lang="en-US" sz="1800" dirty="0"/>
              <a:t>High travel demand</a:t>
            </a:r>
          </a:p>
          <a:p>
            <a:r>
              <a:rPr lang="en-US" sz="1800" dirty="0"/>
              <a:t>Limited availability of charging stations</a:t>
            </a:r>
          </a:p>
          <a:p>
            <a:r>
              <a:rPr lang="en-US" sz="1800" dirty="0"/>
              <a:t>High impact on power grid </a:t>
            </a:r>
          </a:p>
          <a:p>
            <a:r>
              <a:rPr lang="en-US" sz="1800" dirty="0"/>
              <a:t>Limited battery capacity</a:t>
            </a:r>
            <a:endParaRPr lang="en-SG" sz="1800" dirty="0"/>
          </a:p>
        </p:txBody>
      </p:sp>
      <p:sp>
        <p:nvSpPr>
          <p:cNvPr id="10" name="Text Placeholder 9">
            <a:extLst>
              <a:ext uri="{FF2B5EF4-FFF2-40B4-BE49-F238E27FC236}">
                <a16:creationId xmlns:a16="http://schemas.microsoft.com/office/drawing/2014/main" id="{45A75B7C-B814-59CD-C8AB-8D42341839A4}"/>
              </a:ext>
            </a:extLst>
          </p:cNvPr>
          <p:cNvSpPr>
            <a:spLocks noGrp="1"/>
          </p:cNvSpPr>
          <p:nvPr>
            <p:ph type="body" sz="quarter" idx="29"/>
          </p:nvPr>
        </p:nvSpPr>
        <p:spPr>
          <a:xfrm>
            <a:off x="5271607" y="3344812"/>
            <a:ext cx="6531372" cy="514321"/>
          </a:xfrm>
        </p:spPr>
        <p:txBody>
          <a:bodyPr/>
          <a:lstStyle/>
          <a:p>
            <a:r>
              <a:rPr lang="en-SG" sz="2400" b="0" dirty="0"/>
              <a:t>Behavioural Factors Influencing EV Adoption</a:t>
            </a:r>
            <a:endParaRPr lang="en-SG" sz="2400" dirty="0">
              <a:solidFill>
                <a:schemeClr val="lt1"/>
              </a:solidFill>
              <a:cs typeface="+mn-cs"/>
            </a:endParaRPr>
          </a:p>
        </p:txBody>
      </p:sp>
      <p:sp>
        <p:nvSpPr>
          <p:cNvPr id="11" name="Text Placeholder 10">
            <a:extLst>
              <a:ext uri="{FF2B5EF4-FFF2-40B4-BE49-F238E27FC236}">
                <a16:creationId xmlns:a16="http://schemas.microsoft.com/office/drawing/2014/main" id="{53EC22CF-30D5-A453-0409-3B911895DF37}"/>
              </a:ext>
            </a:extLst>
          </p:cNvPr>
          <p:cNvSpPr>
            <a:spLocks noGrp="1"/>
          </p:cNvSpPr>
          <p:nvPr>
            <p:ph type="body" sz="quarter" idx="31"/>
          </p:nvPr>
        </p:nvSpPr>
        <p:spPr>
          <a:xfrm>
            <a:off x="5271607" y="4985831"/>
            <a:ext cx="5737286" cy="514321"/>
          </a:xfrm>
        </p:spPr>
        <p:txBody>
          <a:bodyPr/>
          <a:lstStyle/>
          <a:p>
            <a:r>
              <a:rPr lang="en-SG" sz="2400" b="0" dirty="0"/>
              <a:t>Consumer Perceptions in Malaysia</a:t>
            </a:r>
            <a:endParaRPr lang="en-SG" sz="2400" dirty="0"/>
          </a:p>
        </p:txBody>
      </p:sp>
      <p:sp>
        <p:nvSpPr>
          <p:cNvPr id="12" name="Text Placeholder 11">
            <a:extLst>
              <a:ext uri="{FF2B5EF4-FFF2-40B4-BE49-F238E27FC236}">
                <a16:creationId xmlns:a16="http://schemas.microsoft.com/office/drawing/2014/main" id="{19110C2F-FDC3-23B7-7B39-15DF61795302}"/>
              </a:ext>
            </a:extLst>
          </p:cNvPr>
          <p:cNvSpPr>
            <a:spLocks noGrp="1"/>
          </p:cNvSpPr>
          <p:nvPr>
            <p:ph type="body" sz="quarter" idx="34"/>
          </p:nvPr>
        </p:nvSpPr>
        <p:spPr>
          <a:xfrm>
            <a:off x="5271606" y="3873449"/>
            <a:ext cx="5162709" cy="1177789"/>
          </a:xfrm>
        </p:spPr>
        <p:txBody>
          <a:bodyPr/>
          <a:lstStyle/>
          <a:p>
            <a:r>
              <a:rPr lang="en-US" sz="1800" dirty="0"/>
              <a:t>Level of trust in EVs</a:t>
            </a:r>
          </a:p>
          <a:p>
            <a:r>
              <a:rPr lang="en-US" sz="1800" dirty="0"/>
              <a:t>Personal norms (internal moral obligations) </a:t>
            </a:r>
          </a:p>
          <a:p>
            <a:r>
              <a:rPr lang="en-US" sz="1800" dirty="0"/>
              <a:t>Concern about the environment</a:t>
            </a:r>
            <a:endParaRPr lang="en-SG" sz="1800" dirty="0"/>
          </a:p>
        </p:txBody>
      </p:sp>
      <p:sp>
        <p:nvSpPr>
          <p:cNvPr id="13" name="Text Placeholder 12">
            <a:extLst>
              <a:ext uri="{FF2B5EF4-FFF2-40B4-BE49-F238E27FC236}">
                <a16:creationId xmlns:a16="http://schemas.microsoft.com/office/drawing/2014/main" id="{3F1B17C4-0335-B155-4515-96C71930C065}"/>
              </a:ext>
            </a:extLst>
          </p:cNvPr>
          <p:cNvSpPr>
            <a:spLocks noGrp="1"/>
          </p:cNvSpPr>
          <p:nvPr>
            <p:ph type="body" sz="quarter" idx="35"/>
          </p:nvPr>
        </p:nvSpPr>
        <p:spPr>
          <a:xfrm>
            <a:off x="5271608" y="5523202"/>
            <a:ext cx="5922561" cy="1635938"/>
          </a:xfrm>
        </p:spPr>
        <p:txBody>
          <a:bodyPr/>
          <a:lstStyle/>
          <a:p>
            <a:r>
              <a:rPr lang="en-US" sz="1800" dirty="0" err="1"/>
              <a:t>Scepticism</a:t>
            </a:r>
            <a:r>
              <a:rPr lang="en-US" sz="1800" dirty="0"/>
              <a:t> toward the value proposition of EV ownership </a:t>
            </a:r>
          </a:p>
          <a:p>
            <a:r>
              <a:rPr lang="en-US" sz="1800" dirty="0"/>
              <a:t>Risk aversion</a:t>
            </a:r>
            <a:endParaRPr lang="en-SG" sz="1800" dirty="0"/>
          </a:p>
        </p:txBody>
      </p:sp>
      <p:sp>
        <p:nvSpPr>
          <p:cNvPr id="7" name="Title 6">
            <a:extLst>
              <a:ext uri="{FF2B5EF4-FFF2-40B4-BE49-F238E27FC236}">
                <a16:creationId xmlns:a16="http://schemas.microsoft.com/office/drawing/2014/main" id="{77C9F87C-A115-59D2-3EBF-0209305CE13F}"/>
              </a:ext>
            </a:extLst>
          </p:cNvPr>
          <p:cNvSpPr>
            <a:spLocks noGrp="1"/>
          </p:cNvSpPr>
          <p:nvPr>
            <p:ph type="title"/>
          </p:nvPr>
        </p:nvSpPr>
        <p:spPr/>
        <p:txBody>
          <a:bodyPr/>
          <a:lstStyle/>
          <a:p>
            <a:r>
              <a:rPr lang="en-US" dirty="0"/>
              <a:t>Literature Review</a:t>
            </a:r>
            <a:endParaRPr lang="en-SG" dirty="0"/>
          </a:p>
        </p:txBody>
      </p:sp>
      <p:pic>
        <p:nvPicPr>
          <p:cNvPr id="17" name="Picture Placeholder 16">
            <a:extLst>
              <a:ext uri="{FF2B5EF4-FFF2-40B4-BE49-F238E27FC236}">
                <a16:creationId xmlns:a16="http://schemas.microsoft.com/office/drawing/2014/main" id="{9D5FBBED-D518-D3C6-A426-CD36AF62E925}"/>
              </a:ext>
            </a:extLst>
          </p:cNvPr>
          <p:cNvPicPr>
            <a:picLocks noGrp="1" noChangeAspect="1"/>
          </p:cNvPicPr>
          <p:nvPr>
            <p:ph type="pic" sz="quarter" idx="36"/>
          </p:nvPr>
        </p:nvPicPr>
        <p:blipFill>
          <a:blip r:embed="rId3">
            <a:extLst>
              <a:ext uri="{837473B0-CC2E-450A-ABE3-18F120FF3D39}">
                <a1611:picAttrSrcUrl xmlns:a1611="http://schemas.microsoft.com/office/drawing/2016/11/main" r:id="rId4"/>
              </a:ext>
            </a:extLst>
          </a:blip>
          <a:srcRect t="9404" b="9404"/>
          <a:stretch>
            <a:fillRect/>
          </a:stretch>
        </p:blipFill>
        <p:spPr/>
      </p:pic>
      <p:sp>
        <p:nvSpPr>
          <p:cNvPr id="6" name="Slide Number Placeholder 5">
            <a:extLst>
              <a:ext uri="{FF2B5EF4-FFF2-40B4-BE49-F238E27FC236}">
                <a16:creationId xmlns:a16="http://schemas.microsoft.com/office/drawing/2014/main" id="{6D660DBC-171E-4F74-4C4A-0F4561DE086D}"/>
              </a:ext>
            </a:extLst>
          </p:cNvPr>
          <p:cNvSpPr>
            <a:spLocks noGrp="1"/>
          </p:cNvSpPr>
          <p:nvPr>
            <p:ph type="sldNum" sz="quarter" idx="40"/>
          </p:nvPr>
        </p:nvSpPr>
        <p:spPr/>
        <p:txBody>
          <a:bodyPr/>
          <a:lstStyle/>
          <a:p>
            <a:fld id="{47FEACEE-25B4-4A2D-B147-27296E36371D}" type="slidenum">
              <a:rPr lang="en-US" altLang="zh-CN" smtClean="0"/>
              <a:pPr/>
              <a:t>4</a:t>
            </a:fld>
            <a:endParaRPr lang="en-US" altLang="zh-CN" dirty="0"/>
          </a:p>
        </p:txBody>
      </p:sp>
      <p:sp>
        <p:nvSpPr>
          <p:cNvPr id="5" name="Footer Placeholder 4">
            <a:extLst>
              <a:ext uri="{FF2B5EF4-FFF2-40B4-BE49-F238E27FC236}">
                <a16:creationId xmlns:a16="http://schemas.microsoft.com/office/drawing/2014/main" id="{BF8E96A6-4383-AA4A-A2DB-9D6DB62EC41F}"/>
              </a:ext>
            </a:extLst>
          </p:cNvPr>
          <p:cNvSpPr>
            <a:spLocks noGrp="1"/>
          </p:cNvSpPr>
          <p:nvPr>
            <p:ph type="ftr" sz="quarter" idx="4294967295"/>
          </p:nvPr>
        </p:nvSpPr>
        <p:spPr>
          <a:xfrm>
            <a:off x="0" y="6328611"/>
            <a:ext cx="4496838" cy="254752"/>
          </a:xfrm>
        </p:spPr>
        <p:txBody>
          <a:bodyPr/>
          <a:lstStyle/>
          <a:p>
            <a:r>
              <a:rPr lang="en-US" altLang="zh-CN" dirty="0"/>
              <a:t>The Scale &amp; Impact of the Shift to EVs Among Malaysian Drivers</a:t>
            </a:r>
            <a:endParaRPr lang="en-US" dirty="0"/>
          </a:p>
        </p:txBody>
      </p:sp>
      <p:pic>
        <p:nvPicPr>
          <p:cNvPr id="18" name="Picture Placeholder 16">
            <a:extLst>
              <a:ext uri="{FF2B5EF4-FFF2-40B4-BE49-F238E27FC236}">
                <a16:creationId xmlns:a16="http://schemas.microsoft.com/office/drawing/2014/main" id="{EE8AAC1C-D75F-B358-32A4-DD54E7B83430}"/>
              </a:ext>
            </a:extLst>
          </p:cNvPr>
          <p:cNvPicPr>
            <a:picLocks noChangeAspect="1"/>
          </p:cNvPicPr>
          <p:nvPr/>
        </p:nvPicPr>
        <p:blipFill>
          <a:blip r:embed="rId3">
            <a:extLst>
              <a:ext uri="{837473B0-CC2E-450A-ABE3-18F120FF3D39}">
                <a1611:picAttrSrcUrl xmlns:a1611="http://schemas.microsoft.com/office/drawing/2016/11/main" r:id="rId4"/>
              </a:ext>
            </a:extLst>
          </a:blip>
          <a:srcRect t="9404" b="9404"/>
          <a:stretch>
            <a:fillRect/>
          </a:stretch>
        </p:blipFill>
        <p:spPr>
          <a:xfrm>
            <a:off x="4738949" y="3559415"/>
            <a:ext cx="507778" cy="565882"/>
          </a:xfrm>
          <a:prstGeom prst="rect">
            <a:avLst/>
          </a:prstGeom>
        </p:spPr>
      </p:pic>
      <p:pic>
        <p:nvPicPr>
          <p:cNvPr id="19" name="Picture Placeholder 16">
            <a:extLst>
              <a:ext uri="{FF2B5EF4-FFF2-40B4-BE49-F238E27FC236}">
                <a16:creationId xmlns:a16="http://schemas.microsoft.com/office/drawing/2014/main" id="{71AB31BF-A775-2352-EB85-BE8CBF7360C4}"/>
              </a:ext>
            </a:extLst>
          </p:cNvPr>
          <p:cNvPicPr>
            <a:picLocks noChangeAspect="1"/>
          </p:cNvPicPr>
          <p:nvPr/>
        </p:nvPicPr>
        <p:blipFill>
          <a:blip r:embed="rId3">
            <a:extLst>
              <a:ext uri="{837473B0-CC2E-450A-ABE3-18F120FF3D39}">
                <a1611:picAttrSrcUrl xmlns:a1611="http://schemas.microsoft.com/office/drawing/2016/11/main" r:id="rId4"/>
              </a:ext>
            </a:extLst>
          </a:blip>
          <a:srcRect t="9404" b="9404"/>
          <a:stretch>
            <a:fillRect/>
          </a:stretch>
        </p:blipFill>
        <p:spPr>
          <a:xfrm>
            <a:off x="4734172" y="5197321"/>
            <a:ext cx="507778" cy="565882"/>
          </a:xfrm>
          <a:prstGeom prst="rect">
            <a:avLst/>
          </a:prstGeom>
        </p:spPr>
      </p:pic>
    </p:spTree>
    <p:extLst>
      <p:ext uri="{BB962C8B-B14F-4D97-AF65-F5344CB8AC3E}">
        <p14:creationId xmlns:p14="http://schemas.microsoft.com/office/powerpoint/2010/main" val="3307796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478CB64C-71AF-6B72-8069-000DD250502E}"/>
              </a:ext>
            </a:extLst>
          </p:cNvPr>
          <p:cNvSpPr>
            <a:spLocks noGrp="1"/>
          </p:cNvSpPr>
          <p:nvPr>
            <p:ph type="title"/>
          </p:nvPr>
        </p:nvSpPr>
        <p:spPr/>
        <p:txBody>
          <a:bodyPr/>
          <a:lstStyle/>
          <a:p>
            <a:r>
              <a:rPr lang="en-US" dirty="0"/>
              <a:t>Project Objectives</a:t>
            </a:r>
          </a:p>
        </p:txBody>
      </p:sp>
      <p:sp>
        <p:nvSpPr>
          <p:cNvPr id="40" name="Text Placeholder 39">
            <a:extLst>
              <a:ext uri="{FF2B5EF4-FFF2-40B4-BE49-F238E27FC236}">
                <a16:creationId xmlns:a16="http://schemas.microsoft.com/office/drawing/2014/main" id="{FA2F9A05-8E79-46FF-1ABA-927EF2D69BC5}"/>
              </a:ext>
            </a:extLst>
          </p:cNvPr>
          <p:cNvSpPr>
            <a:spLocks noGrp="1"/>
          </p:cNvSpPr>
          <p:nvPr>
            <p:ph type="body" sz="quarter" idx="27"/>
          </p:nvPr>
        </p:nvSpPr>
        <p:spPr>
          <a:xfrm>
            <a:off x="2148840" y="2016343"/>
            <a:ext cx="1865376" cy="866219"/>
          </a:xfrm>
        </p:spPr>
        <p:txBody>
          <a:bodyPr/>
          <a:lstStyle/>
          <a:p>
            <a:r>
              <a:rPr lang="en-US" dirty="0"/>
              <a:t>EV Adoption Trends</a:t>
            </a:r>
          </a:p>
        </p:txBody>
      </p:sp>
      <p:sp>
        <p:nvSpPr>
          <p:cNvPr id="50" name="Text Placeholder 49">
            <a:extLst>
              <a:ext uri="{FF2B5EF4-FFF2-40B4-BE49-F238E27FC236}">
                <a16:creationId xmlns:a16="http://schemas.microsoft.com/office/drawing/2014/main" id="{0532F467-8DBE-D445-0CF7-D5D242DAD663}"/>
              </a:ext>
            </a:extLst>
          </p:cNvPr>
          <p:cNvSpPr>
            <a:spLocks noGrp="1"/>
          </p:cNvSpPr>
          <p:nvPr>
            <p:ph type="body" sz="quarter" idx="32"/>
          </p:nvPr>
        </p:nvSpPr>
        <p:spPr>
          <a:xfrm>
            <a:off x="2148840" y="2879023"/>
            <a:ext cx="1865376" cy="3331696"/>
          </a:xfrm>
        </p:spPr>
        <p:txBody>
          <a:bodyPr/>
          <a:lstStyle/>
          <a:p>
            <a:pPr marL="285750" lvl="0" indent="-285750" algn="l">
              <a:buFont typeface="Arial" panose="020B0604020202020204" pitchFamily="34" charset="0"/>
              <a:buChar char="•"/>
            </a:pPr>
            <a:r>
              <a:rPr lang="en-US" dirty="0"/>
              <a:t>How quickly are Malaysians adopting electric vehicles (EVs)?</a:t>
            </a:r>
          </a:p>
          <a:p>
            <a:pPr marL="285750" lvl="0" indent="-285750" algn="l">
              <a:buFont typeface="Arial" panose="020B0604020202020204" pitchFamily="34" charset="0"/>
              <a:buChar char="•"/>
            </a:pPr>
            <a:r>
              <a:rPr lang="en-US" dirty="0"/>
              <a:t>Any specific car type preferred by EV owners?</a:t>
            </a:r>
          </a:p>
        </p:txBody>
      </p:sp>
      <p:sp>
        <p:nvSpPr>
          <p:cNvPr id="42" name="Text Placeholder 41">
            <a:extLst>
              <a:ext uri="{FF2B5EF4-FFF2-40B4-BE49-F238E27FC236}">
                <a16:creationId xmlns:a16="http://schemas.microsoft.com/office/drawing/2014/main" id="{48BF8F22-E288-84B0-03E9-82D678051D45}"/>
              </a:ext>
            </a:extLst>
          </p:cNvPr>
          <p:cNvSpPr>
            <a:spLocks noGrp="1"/>
          </p:cNvSpPr>
          <p:nvPr>
            <p:ph type="body" sz="quarter" idx="46"/>
          </p:nvPr>
        </p:nvSpPr>
        <p:spPr>
          <a:xfrm>
            <a:off x="4311396" y="2016343"/>
            <a:ext cx="1865376" cy="866219"/>
          </a:xfrm>
        </p:spPr>
        <p:txBody>
          <a:bodyPr/>
          <a:lstStyle/>
          <a:p>
            <a:r>
              <a:rPr lang="en-US" dirty="0"/>
              <a:t>Market Share Analysis</a:t>
            </a:r>
          </a:p>
        </p:txBody>
      </p:sp>
      <p:sp>
        <p:nvSpPr>
          <p:cNvPr id="52" name="Text Placeholder 51">
            <a:extLst>
              <a:ext uri="{FF2B5EF4-FFF2-40B4-BE49-F238E27FC236}">
                <a16:creationId xmlns:a16="http://schemas.microsoft.com/office/drawing/2014/main" id="{BACB9342-C47E-6729-46BE-F10DBB78182A}"/>
              </a:ext>
            </a:extLst>
          </p:cNvPr>
          <p:cNvSpPr>
            <a:spLocks noGrp="1"/>
          </p:cNvSpPr>
          <p:nvPr>
            <p:ph type="body" sz="quarter" idx="50"/>
          </p:nvPr>
        </p:nvSpPr>
        <p:spPr>
          <a:xfrm>
            <a:off x="4310943" y="2879022"/>
            <a:ext cx="1867186" cy="3331695"/>
          </a:xfrm>
        </p:spPr>
        <p:txBody>
          <a:bodyPr/>
          <a:lstStyle/>
          <a:p>
            <a:pPr marL="285750" indent="-285750" algn="l">
              <a:buFont typeface="Arial" panose="020B0604020202020204" pitchFamily="34" charset="0"/>
              <a:buChar char="•"/>
            </a:pPr>
            <a:r>
              <a:rPr lang="en-US" dirty="0"/>
              <a:t>What portion of the automobile market is captured by EVs?</a:t>
            </a:r>
          </a:p>
          <a:p>
            <a:pPr marL="285750" indent="-285750" algn="l">
              <a:buFont typeface="Arial" panose="020B0604020202020204" pitchFamily="34" charset="0"/>
              <a:buChar char="•"/>
            </a:pPr>
            <a:r>
              <a:rPr lang="en-US" dirty="0"/>
              <a:t>How has the entry of Chinese EV brands affected the market shares of local and other foreign brands?</a:t>
            </a:r>
          </a:p>
        </p:txBody>
      </p:sp>
      <p:sp>
        <p:nvSpPr>
          <p:cNvPr id="44" name="Text Placeholder 43">
            <a:extLst>
              <a:ext uri="{FF2B5EF4-FFF2-40B4-BE49-F238E27FC236}">
                <a16:creationId xmlns:a16="http://schemas.microsoft.com/office/drawing/2014/main" id="{D0C47E92-8875-E555-5480-8A9BAEE853A7}"/>
              </a:ext>
            </a:extLst>
          </p:cNvPr>
          <p:cNvSpPr>
            <a:spLocks noGrp="1"/>
          </p:cNvSpPr>
          <p:nvPr>
            <p:ph type="body" sz="quarter" idx="47"/>
          </p:nvPr>
        </p:nvSpPr>
        <p:spPr>
          <a:xfrm>
            <a:off x="6473952" y="2016343"/>
            <a:ext cx="1865376" cy="866219"/>
          </a:xfrm>
        </p:spPr>
        <p:txBody>
          <a:bodyPr/>
          <a:lstStyle/>
          <a:p>
            <a:r>
              <a:rPr lang="en-US" dirty="0"/>
              <a:t>Consumer Sentiment</a:t>
            </a:r>
          </a:p>
        </p:txBody>
      </p:sp>
      <p:sp>
        <p:nvSpPr>
          <p:cNvPr id="54" name="Text Placeholder 53">
            <a:extLst>
              <a:ext uri="{FF2B5EF4-FFF2-40B4-BE49-F238E27FC236}">
                <a16:creationId xmlns:a16="http://schemas.microsoft.com/office/drawing/2014/main" id="{DDCD388C-8374-D810-DCE5-554B7E05F55A}"/>
              </a:ext>
            </a:extLst>
          </p:cNvPr>
          <p:cNvSpPr>
            <a:spLocks noGrp="1"/>
          </p:cNvSpPr>
          <p:nvPr>
            <p:ph type="body" sz="quarter" idx="51"/>
          </p:nvPr>
        </p:nvSpPr>
        <p:spPr>
          <a:xfrm>
            <a:off x="6474856" y="2879023"/>
            <a:ext cx="1865376" cy="3331694"/>
          </a:xfrm>
        </p:spPr>
        <p:txBody>
          <a:bodyPr/>
          <a:lstStyle/>
          <a:p>
            <a:pPr marL="285750" lvl="0" indent="-285750" algn="l">
              <a:buFont typeface="Arial" panose="020B0604020202020204" pitchFamily="34" charset="0"/>
              <a:buChar char="•"/>
            </a:pPr>
            <a:r>
              <a:rPr lang="en-US" dirty="0"/>
              <a:t>What are the underlying reasons or sentiments influencing a car owner’s decision to choose an EV?</a:t>
            </a:r>
          </a:p>
        </p:txBody>
      </p:sp>
      <p:sp>
        <p:nvSpPr>
          <p:cNvPr id="46" name="Text Placeholder 45">
            <a:extLst>
              <a:ext uri="{FF2B5EF4-FFF2-40B4-BE49-F238E27FC236}">
                <a16:creationId xmlns:a16="http://schemas.microsoft.com/office/drawing/2014/main" id="{B87AFF1A-EF07-5FBF-C582-29AE302A47D5}"/>
              </a:ext>
            </a:extLst>
          </p:cNvPr>
          <p:cNvSpPr>
            <a:spLocks noGrp="1"/>
          </p:cNvSpPr>
          <p:nvPr>
            <p:ph type="body" sz="quarter" idx="48"/>
          </p:nvPr>
        </p:nvSpPr>
        <p:spPr>
          <a:xfrm>
            <a:off x="8636508" y="2016343"/>
            <a:ext cx="1865376" cy="866219"/>
          </a:xfrm>
        </p:spPr>
        <p:txBody>
          <a:bodyPr/>
          <a:lstStyle/>
          <a:p>
            <a:r>
              <a:rPr lang="en-US" dirty="0"/>
              <a:t>Price Comparison</a:t>
            </a:r>
          </a:p>
        </p:txBody>
      </p:sp>
      <p:sp>
        <p:nvSpPr>
          <p:cNvPr id="56" name="Text Placeholder 55">
            <a:extLst>
              <a:ext uri="{FF2B5EF4-FFF2-40B4-BE49-F238E27FC236}">
                <a16:creationId xmlns:a16="http://schemas.microsoft.com/office/drawing/2014/main" id="{E62055F1-67DB-9D6D-ABE2-20C3B2514A43}"/>
              </a:ext>
            </a:extLst>
          </p:cNvPr>
          <p:cNvSpPr>
            <a:spLocks noGrp="1"/>
          </p:cNvSpPr>
          <p:nvPr>
            <p:ph type="body" sz="quarter" idx="52"/>
          </p:nvPr>
        </p:nvSpPr>
        <p:spPr>
          <a:xfrm>
            <a:off x="8636959" y="2879023"/>
            <a:ext cx="1865376" cy="3331694"/>
          </a:xfrm>
        </p:spPr>
        <p:txBody>
          <a:bodyPr/>
          <a:lstStyle/>
          <a:p>
            <a:pPr marL="285750" lvl="0" indent="-285750" algn="l">
              <a:buFont typeface="Arial" panose="020B0604020202020204" pitchFamily="34" charset="0"/>
              <a:buChar char="•"/>
            </a:pPr>
            <a:r>
              <a:rPr lang="en-US" dirty="0"/>
              <a:t>Are there significant differences in the prices Malaysian car owners are paying for EVs versus a normal petrol-powered car?</a:t>
            </a:r>
          </a:p>
        </p:txBody>
      </p:sp>
      <p:sp>
        <p:nvSpPr>
          <p:cNvPr id="26" name="Rectangle 25">
            <a:extLst>
              <a:ext uri="{FF2B5EF4-FFF2-40B4-BE49-F238E27FC236}">
                <a16:creationId xmlns:a16="http://schemas.microsoft.com/office/drawing/2014/main" id="{285177ED-2E57-8FF5-AFD8-AA79A7B24B3D}"/>
              </a:ext>
              <a:ext uri="{C183D7F6-B498-43B3-948B-1728B52AA6E4}">
                <adec:decorative xmlns:adec="http://schemas.microsoft.com/office/drawing/2017/decorative" val="1"/>
              </a:ext>
            </a:extLst>
          </p:cNvPr>
          <p:cNvSpPr/>
          <p:nvPr/>
        </p:nvSpPr>
        <p:spPr>
          <a:xfrm>
            <a:off x="2156032" y="2015825"/>
            <a:ext cx="8345852" cy="859536"/>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mn-lt"/>
            </a:endParaRPr>
          </a:p>
        </p:txBody>
      </p:sp>
      <p:sp>
        <p:nvSpPr>
          <p:cNvPr id="4" name="Footer Placeholder 3">
            <a:extLst>
              <a:ext uri="{FF2B5EF4-FFF2-40B4-BE49-F238E27FC236}">
                <a16:creationId xmlns:a16="http://schemas.microsoft.com/office/drawing/2014/main" id="{DEFD68CE-EF5C-4046-41F5-3763D028DAE5}"/>
              </a:ext>
            </a:extLst>
          </p:cNvPr>
          <p:cNvSpPr>
            <a:spLocks noGrp="1"/>
          </p:cNvSpPr>
          <p:nvPr>
            <p:ph type="ftr" sz="quarter" idx="54"/>
          </p:nvPr>
        </p:nvSpPr>
        <p:spPr/>
        <p:txBody>
          <a:bodyPr/>
          <a:lstStyle/>
          <a:p>
            <a:r>
              <a:rPr lang="en-US" altLang="zh-CN" dirty="0"/>
              <a:t>The Scale &amp; Impact of the Shift to EVs Among Malaysian Drivers</a:t>
            </a:r>
            <a:endParaRPr lang="en-US" dirty="0"/>
          </a:p>
        </p:txBody>
      </p:sp>
      <p:sp>
        <p:nvSpPr>
          <p:cNvPr id="5" name="Slide Number Placeholder 4">
            <a:extLst>
              <a:ext uri="{FF2B5EF4-FFF2-40B4-BE49-F238E27FC236}">
                <a16:creationId xmlns:a16="http://schemas.microsoft.com/office/drawing/2014/main" id="{64FC7183-3EBB-B8D1-A66D-964D3C3A7DA8}"/>
              </a:ext>
            </a:extLst>
          </p:cNvPr>
          <p:cNvSpPr>
            <a:spLocks noGrp="1"/>
          </p:cNvSpPr>
          <p:nvPr>
            <p:ph type="sldNum" sz="quarter" idx="55"/>
          </p:nvPr>
        </p:nvSpPr>
        <p:spPr/>
        <p:txBody>
          <a:bodyPr/>
          <a:lstStyle/>
          <a:p>
            <a:fld id="{47FEACEE-25B4-4A2D-B147-27296E36371D}" type="slidenum">
              <a:rPr lang="en-US" altLang="zh-CN" noProof="0" smtClean="0"/>
              <a:pPr/>
              <a:t>5</a:t>
            </a:fld>
            <a:endParaRPr lang="en-US" altLang="zh-CN" noProof="0" dirty="0"/>
          </a:p>
        </p:txBody>
      </p:sp>
    </p:spTree>
    <p:extLst>
      <p:ext uri="{BB962C8B-B14F-4D97-AF65-F5344CB8AC3E}">
        <p14:creationId xmlns:p14="http://schemas.microsoft.com/office/powerpoint/2010/main" val="2624021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dirty="0"/>
              <a:t>Methodology</a:t>
            </a:r>
          </a:p>
        </p:txBody>
      </p:sp>
      <p:pic>
        <p:nvPicPr>
          <p:cNvPr id="192" name="Picture Placeholder 191" descr="Abacus with solid fill">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5182" r="5182"/>
          <a:stretch>
            <a:fillRect/>
          </a:stretch>
        </p:blipFill>
        <p:spPr/>
      </p:pic>
      <p:sp>
        <p:nvSpPr>
          <p:cNvPr id="9" name="Text Placeholder 8">
            <a:extLst>
              <a:ext uri="{FF2B5EF4-FFF2-40B4-BE49-F238E27FC236}">
                <a16:creationId xmlns:a16="http://schemas.microsoft.com/office/drawing/2014/main" id="{FA96FE97-5E27-FC36-5E3A-511A31E6C789}"/>
              </a:ext>
            </a:extLst>
          </p:cNvPr>
          <p:cNvSpPr>
            <a:spLocks noGrp="1"/>
          </p:cNvSpPr>
          <p:nvPr>
            <p:ph type="body" sz="quarter" idx="27"/>
          </p:nvPr>
        </p:nvSpPr>
        <p:spPr/>
        <p:txBody>
          <a:bodyPr/>
          <a:lstStyle/>
          <a:p>
            <a:r>
              <a:rPr lang="en-SG" sz="2400" dirty="0"/>
              <a:t>Data Preparation</a:t>
            </a:r>
            <a:endParaRPr lang="en-US" sz="2400" dirty="0"/>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p:txBody>
          <a:bodyPr/>
          <a:lstStyle/>
          <a:p>
            <a:r>
              <a:rPr lang="en-US" sz="1800" dirty="0"/>
              <a:t>Cleaning, transformation, and exploratory analysis</a:t>
            </a:r>
          </a:p>
          <a:p>
            <a:r>
              <a:rPr lang="en-US" sz="1800" dirty="0"/>
              <a:t>Key variables: Manufacturer, vehicle type, fuel type, and specific model</a:t>
            </a:r>
          </a:p>
          <a:p>
            <a:endParaRPr lang="en-US" sz="1800" dirty="0"/>
          </a:p>
        </p:txBody>
      </p:sp>
      <p:pic>
        <p:nvPicPr>
          <p:cNvPr id="194" name="Picture Placeholder 193" descr="Bar graph with upward trend with solid fill">
            <a:extLst>
              <a:ext uri="{FF2B5EF4-FFF2-40B4-BE49-F238E27FC236}">
                <a16:creationId xmlns:a16="http://schemas.microsoft.com/office/drawing/2014/main" id="{FAB9DE8A-4935-A3E0-0122-F76CDEAC29D1}"/>
              </a:ext>
            </a:extLst>
          </p:cNvPr>
          <p:cNvPicPr>
            <a:picLocks noGrp="1" noChangeAspect="1"/>
          </p:cNvPicPr>
          <p:nvPr>
            <p:ph type="pic" sz="quarter" idx="37"/>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2661" r="2661"/>
          <a:stretch>
            <a:fillRect/>
          </a:stretch>
        </p:blipFill>
        <p:spPr>
          <a:xfrm>
            <a:off x="4734172" y="3321074"/>
            <a:ext cx="536270" cy="565882"/>
          </a:xfrm>
        </p:spPr>
      </p:pic>
      <p:sp>
        <p:nvSpPr>
          <p:cNvPr id="11" name="Text Placeholder 10">
            <a:extLst>
              <a:ext uri="{FF2B5EF4-FFF2-40B4-BE49-F238E27FC236}">
                <a16:creationId xmlns:a16="http://schemas.microsoft.com/office/drawing/2014/main" id="{DC774673-50D8-2D6F-C339-6E4B0A126B06}"/>
              </a:ext>
            </a:extLst>
          </p:cNvPr>
          <p:cNvSpPr>
            <a:spLocks noGrp="1"/>
          </p:cNvSpPr>
          <p:nvPr>
            <p:ph type="body" sz="quarter" idx="29"/>
          </p:nvPr>
        </p:nvSpPr>
        <p:spPr>
          <a:xfrm>
            <a:off x="5281076" y="3200109"/>
            <a:ext cx="5162709" cy="420683"/>
          </a:xfrm>
        </p:spPr>
        <p:txBody>
          <a:bodyPr/>
          <a:lstStyle/>
          <a:p>
            <a:r>
              <a:rPr lang="en-SG" sz="2400" dirty="0"/>
              <a:t>Quantitative Analysis</a:t>
            </a:r>
            <a:endParaRPr lang="en-US" sz="2400" dirty="0"/>
          </a:p>
        </p:txBody>
      </p:sp>
      <p:sp>
        <p:nvSpPr>
          <p:cNvPr id="13" name="Text Placeholder 12">
            <a:extLst>
              <a:ext uri="{FF2B5EF4-FFF2-40B4-BE49-F238E27FC236}">
                <a16:creationId xmlns:a16="http://schemas.microsoft.com/office/drawing/2014/main" id="{DEB5763E-8BC0-F6C3-3814-6649A828C000}"/>
              </a:ext>
            </a:extLst>
          </p:cNvPr>
          <p:cNvSpPr>
            <a:spLocks noGrp="1"/>
          </p:cNvSpPr>
          <p:nvPr>
            <p:ph type="body" sz="quarter" idx="34"/>
          </p:nvPr>
        </p:nvSpPr>
        <p:spPr>
          <a:xfrm>
            <a:off x="5281075" y="3635108"/>
            <a:ext cx="5162709" cy="1177789"/>
          </a:xfrm>
        </p:spPr>
        <p:txBody>
          <a:bodyPr/>
          <a:lstStyle/>
          <a:p>
            <a:r>
              <a:rPr lang="en-US" sz="1800" dirty="0"/>
              <a:t>Annual trends, market share shifts, and adoption rates for EVs</a:t>
            </a:r>
          </a:p>
        </p:txBody>
      </p:sp>
      <p:sp>
        <p:nvSpPr>
          <p:cNvPr id="12" name="Text Placeholder 11">
            <a:extLst>
              <a:ext uri="{FF2B5EF4-FFF2-40B4-BE49-F238E27FC236}">
                <a16:creationId xmlns:a16="http://schemas.microsoft.com/office/drawing/2014/main" id="{D3E02E0C-26E8-8160-D35F-2398015C051B}"/>
              </a:ext>
            </a:extLst>
          </p:cNvPr>
          <p:cNvSpPr>
            <a:spLocks noGrp="1"/>
          </p:cNvSpPr>
          <p:nvPr>
            <p:ph type="body" sz="quarter" idx="31"/>
          </p:nvPr>
        </p:nvSpPr>
        <p:spPr/>
        <p:txBody>
          <a:bodyPr/>
          <a:lstStyle/>
          <a:p>
            <a:r>
              <a:rPr lang="en-SG" sz="2400" dirty="0"/>
              <a:t>Qualitative Analysis</a:t>
            </a:r>
            <a:endParaRPr lang="en-US" sz="2400" dirty="0"/>
          </a:p>
        </p:txBody>
      </p:sp>
      <p:sp>
        <p:nvSpPr>
          <p:cNvPr id="14" name="Text Placeholder 13">
            <a:extLst>
              <a:ext uri="{FF2B5EF4-FFF2-40B4-BE49-F238E27FC236}">
                <a16:creationId xmlns:a16="http://schemas.microsoft.com/office/drawing/2014/main" id="{C78180D0-1AB6-8416-0EB1-10648E1A6050}"/>
              </a:ext>
            </a:extLst>
          </p:cNvPr>
          <p:cNvSpPr>
            <a:spLocks noGrp="1"/>
          </p:cNvSpPr>
          <p:nvPr>
            <p:ph type="body" sz="quarter" idx="35"/>
          </p:nvPr>
        </p:nvSpPr>
        <p:spPr/>
        <p:txBody>
          <a:bodyPr/>
          <a:lstStyle/>
          <a:p>
            <a:r>
              <a:rPr lang="en-US" sz="1800" dirty="0"/>
              <a:t>Keyword analysis on Reddit threads</a:t>
            </a:r>
          </a:p>
          <a:p>
            <a:r>
              <a:rPr lang="en-US" sz="1800" dirty="0"/>
              <a:t>Sentiments, perceptions, concerns, and motivations related to EV ownership</a:t>
            </a:r>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6</a:t>
            </a:fld>
            <a:endParaRPr lang="en-US" altLang="zh-CN" dirty="0"/>
          </a:p>
        </p:txBody>
      </p:sp>
      <p:pic>
        <p:nvPicPr>
          <p:cNvPr id="6" name="Picture Placeholder 5">
            <a:extLst>
              <a:ext uri="{FF2B5EF4-FFF2-40B4-BE49-F238E27FC236}">
                <a16:creationId xmlns:a16="http://schemas.microsoft.com/office/drawing/2014/main" id="{DC46F550-1202-0D3E-A5FB-272995723F09}"/>
              </a:ext>
            </a:extLst>
          </p:cNvPr>
          <p:cNvPicPr>
            <a:picLocks noGrp="1" noChangeAspect="1"/>
          </p:cNvPicPr>
          <p:nvPr>
            <p:ph type="pic" sz="quarter" idx="38"/>
          </p:nvPr>
        </p:nvPicPr>
        <p:blipFill>
          <a:blip r:embed="rId7">
            <a:duotone>
              <a:schemeClr val="accent4">
                <a:shade val="45000"/>
                <a:satMod val="135000"/>
              </a:schemeClr>
              <a:prstClr val="white"/>
            </a:duotone>
            <a:extLst>
              <a:ext uri="{BEBA8EAE-BF5A-486C-A8C5-ECC9F3942E4B}">
                <a14:imgProps xmlns:a14="http://schemas.microsoft.com/office/drawing/2010/main">
                  <a14:imgLayer r:embed="rId8">
                    <a14:imgEffect>
                      <a14:saturation sat="0"/>
                    </a14:imgEffect>
                  </a14:imgLayer>
                </a14:imgProps>
              </a:ext>
            </a:extLst>
          </a:blip>
          <a:srcRect l="2528" r="2528"/>
          <a:stretch>
            <a:fillRect/>
          </a:stretch>
        </p:blipFill>
        <p:spPr/>
      </p:pic>
      <p:sp>
        <p:nvSpPr>
          <p:cNvPr id="2" name="Footer Placeholder 4">
            <a:extLst>
              <a:ext uri="{FF2B5EF4-FFF2-40B4-BE49-F238E27FC236}">
                <a16:creationId xmlns:a16="http://schemas.microsoft.com/office/drawing/2014/main" id="{DF2B747B-0FBA-1F16-EC94-F17A0CFF50C1}"/>
              </a:ext>
            </a:extLst>
          </p:cNvPr>
          <p:cNvSpPr txBox="1">
            <a:spLocks/>
          </p:cNvSpPr>
          <p:nvPr/>
        </p:nvSpPr>
        <p:spPr>
          <a:xfrm>
            <a:off x="0" y="6328611"/>
            <a:ext cx="4496838" cy="254752"/>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a:t>The Scale &amp; Impact of the Shift to EVs Among Malaysian Drivers</a:t>
            </a:r>
            <a:endParaRPr lang="en-US" dirty="0"/>
          </a:p>
        </p:txBody>
      </p:sp>
    </p:spTree>
    <p:extLst>
      <p:ext uri="{BB962C8B-B14F-4D97-AF65-F5344CB8AC3E}">
        <p14:creationId xmlns:p14="http://schemas.microsoft.com/office/powerpoint/2010/main" val="2519727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95F7F76-03BF-7F36-E164-7410EFAAD1BB}"/>
              </a:ext>
            </a:extLst>
          </p:cNvPr>
          <p:cNvSpPr>
            <a:spLocks noGrp="1"/>
          </p:cNvSpPr>
          <p:nvPr>
            <p:ph type="ftr" sz="quarter" idx="4294967295"/>
          </p:nvPr>
        </p:nvSpPr>
        <p:spPr>
          <a:xfrm>
            <a:off x="-1" y="6218238"/>
            <a:ext cx="4985657" cy="365125"/>
          </a:xfrm>
        </p:spPr>
        <p:txBody>
          <a:bodyPr/>
          <a:lstStyle/>
          <a:p>
            <a:r>
              <a:rPr lang="en-US" altLang="zh-CN" dirty="0"/>
              <a:t>The Scale &amp; Impact of the Shift to EVs Among Malaysian Drivers</a:t>
            </a:r>
            <a:endParaRPr lang="en-US" dirty="0"/>
          </a:p>
        </p:txBody>
      </p:sp>
      <p:sp>
        <p:nvSpPr>
          <p:cNvPr id="5" name="Slide Number Placeholder 4">
            <a:extLst>
              <a:ext uri="{FF2B5EF4-FFF2-40B4-BE49-F238E27FC236}">
                <a16:creationId xmlns:a16="http://schemas.microsoft.com/office/drawing/2014/main" id="{DBDDB7B4-295C-B6CE-1BCE-FD56B162DBFF}"/>
              </a:ext>
            </a:extLst>
          </p:cNvPr>
          <p:cNvSpPr>
            <a:spLocks noGrp="1"/>
          </p:cNvSpPr>
          <p:nvPr>
            <p:ph type="sldNum" sz="quarter" idx="4294967295"/>
          </p:nvPr>
        </p:nvSpPr>
        <p:spPr>
          <a:xfrm>
            <a:off x="11733213" y="6218238"/>
            <a:ext cx="458787" cy="365125"/>
          </a:xfrm>
        </p:spPr>
        <p:txBody>
          <a:bodyPr/>
          <a:lstStyle/>
          <a:p>
            <a:fld id="{47FEACEE-25B4-4A2D-B147-27296E36371D}" type="slidenum">
              <a:rPr lang="en-US" altLang="zh-CN" smtClean="0"/>
              <a:pPr/>
              <a:t>7</a:t>
            </a:fld>
            <a:endParaRPr lang="en-US" altLang="zh-CN" dirty="0"/>
          </a:p>
        </p:txBody>
      </p:sp>
      <p:pic>
        <p:nvPicPr>
          <p:cNvPr id="20" name="Picture 19">
            <a:extLst>
              <a:ext uri="{FF2B5EF4-FFF2-40B4-BE49-F238E27FC236}">
                <a16:creationId xmlns:a16="http://schemas.microsoft.com/office/drawing/2014/main" id="{C8993BAD-FE64-B698-B4C2-9B2E0750643A}"/>
              </a:ext>
            </a:extLst>
          </p:cNvPr>
          <p:cNvPicPr>
            <a:picLocks noChangeAspect="1"/>
          </p:cNvPicPr>
          <p:nvPr/>
        </p:nvPicPr>
        <p:blipFill>
          <a:blip r:embed="rId2"/>
          <a:stretch>
            <a:fillRect/>
          </a:stretch>
        </p:blipFill>
        <p:spPr>
          <a:xfrm>
            <a:off x="2004928" y="2374064"/>
            <a:ext cx="2109872" cy="2109872"/>
          </a:xfrm>
          <a:prstGeom prst="rect">
            <a:avLst/>
          </a:prstGeom>
        </p:spPr>
      </p:pic>
      <p:sp>
        <p:nvSpPr>
          <p:cNvPr id="24" name="Title 5">
            <a:extLst>
              <a:ext uri="{FF2B5EF4-FFF2-40B4-BE49-F238E27FC236}">
                <a16:creationId xmlns:a16="http://schemas.microsoft.com/office/drawing/2014/main" id="{BBA4AB2E-E8C1-89EB-451C-861DA726FB01}"/>
              </a:ext>
            </a:extLst>
          </p:cNvPr>
          <p:cNvSpPr>
            <a:spLocks noGrp="1"/>
          </p:cNvSpPr>
          <p:nvPr>
            <p:ph type="title"/>
          </p:nvPr>
        </p:nvSpPr>
        <p:spPr>
          <a:xfrm>
            <a:off x="6710363" y="2016125"/>
            <a:ext cx="4441825" cy="2776538"/>
          </a:xfrm>
        </p:spPr>
        <p:txBody>
          <a:bodyPr/>
          <a:lstStyle/>
          <a:p>
            <a:r>
              <a:rPr lang="en-US" sz="2400" dirty="0">
                <a:solidFill>
                  <a:schemeClr val="bg1">
                    <a:lumMod val="50000"/>
                  </a:schemeClr>
                </a:solidFill>
              </a:rPr>
              <a:t>Analysis</a:t>
            </a:r>
            <a:br>
              <a:rPr lang="en-US" dirty="0"/>
            </a:br>
            <a:r>
              <a:rPr lang="en-SG" dirty="0">
                <a:solidFill>
                  <a:schemeClr val="tx1"/>
                </a:solidFill>
              </a:rPr>
              <a:t>Market </a:t>
            </a:r>
            <a:br>
              <a:rPr lang="en-SG" dirty="0">
                <a:solidFill>
                  <a:schemeClr val="tx1"/>
                </a:solidFill>
              </a:rPr>
            </a:br>
            <a:r>
              <a:rPr lang="en-SG" dirty="0">
                <a:solidFill>
                  <a:schemeClr val="tx1"/>
                </a:solidFill>
              </a:rPr>
              <a:t>Share Trends</a:t>
            </a:r>
            <a:br>
              <a:rPr lang="en-US" dirty="0"/>
            </a:br>
            <a:endParaRPr lang="en-SG" dirty="0"/>
          </a:p>
        </p:txBody>
      </p:sp>
    </p:spTree>
    <p:extLst>
      <p:ext uri="{BB962C8B-B14F-4D97-AF65-F5344CB8AC3E}">
        <p14:creationId xmlns:p14="http://schemas.microsoft.com/office/powerpoint/2010/main" val="4200966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C176A-350A-53C0-D242-0301EDB16F43}"/>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E62B0DE1-C1A3-B82F-D761-F945C6B3AF16}"/>
              </a:ext>
            </a:extLst>
          </p:cNvPr>
          <p:cNvSpPr>
            <a:spLocks noGrp="1"/>
          </p:cNvSpPr>
          <p:nvPr>
            <p:ph type="title"/>
          </p:nvPr>
        </p:nvSpPr>
        <p:spPr/>
        <p:txBody>
          <a:bodyPr/>
          <a:lstStyle/>
          <a:p>
            <a:r>
              <a:rPr lang="en-SG" dirty="0"/>
              <a:t>Total Vehicle Registrations</a:t>
            </a:r>
          </a:p>
        </p:txBody>
      </p:sp>
      <p:sp>
        <p:nvSpPr>
          <p:cNvPr id="12" name="Slide Number Placeholder 11">
            <a:extLst>
              <a:ext uri="{FF2B5EF4-FFF2-40B4-BE49-F238E27FC236}">
                <a16:creationId xmlns:a16="http://schemas.microsoft.com/office/drawing/2014/main" id="{BEDDF44F-5626-8B20-E97D-0E2ADFC86E76}"/>
              </a:ext>
            </a:extLst>
          </p:cNvPr>
          <p:cNvSpPr>
            <a:spLocks noGrp="1"/>
          </p:cNvSpPr>
          <p:nvPr>
            <p:ph type="sldNum" sz="quarter" idx="29"/>
          </p:nvPr>
        </p:nvSpPr>
        <p:spPr/>
        <p:txBody>
          <a:bodyPr/>
          <a:lstStyle/>
          <a:p>
            <a:fld id="{47FEACEE-25B4-4A2D-B147-27296E36371D}" type="slidenum">
              <a:rPr lang="en-US" altLang="zh-CN" smtClean="0"/>
              <a:pPr/>
              <a:t>8</a:t>
            </a:fld>
            <a:endParaRPr lang="en-US" altLang="zh-CN" dirty="0"/>
          </a:p>
        </p:txBody>
      </p:sp>
      <p:grpSp>
        <p:nvGrpSpPr>
          <p:cNvPr id="14" name="Group 13">
            <a:extLst>
              <a:ext uri="{FF2B5EF4-FFF2-40B4-BE49-F238E27FC236}">
                <a16:creationId xmlns:a16="http://schemas.microsoft.com/office/drawing/2014/main" id="{78DDD80A-B725-15D4-886A-C189AADC7C45}"/>
              </a:ext>
            </a:extLst>
          </p:cNvPr>
          <p:cNvGrpSpPr/>
          <p:nvPr/>
        </p:nvGrpSpPr>
        <p:grpSpPr>
          <a:xfrm>
            <a:off x="3017921" y="2032022"/>
            <a:ext cx="6156158" cy="2793956"/>
            <a:chOff x="3172727" y="2201504"/>
            <a:chExt cx="6156158" cy="2793956"/>
          </a:xfrm>
        </p:grpSpPr>
        <p:sp>
          <p:nvSpPr>
            <p:cNvPr id="6" name="Rectangle: Rounded Corners 5">
              <a:extLst>
                <a:ext uri="{FF2B5EF4-FFF2-40B4-BE49-F238E27FC236}">
                  <a16:creationId xmlns:a16="http://schemas.microsoft.com/office/drawing/2014/main" id="{3445126A-AC95-534A-E55D-394D27106955}"/>
                </a:ext>
              </a:extLst>
            </p:cNvPr>
            <p:cNvSpPr/>
            <p:nvPr/>
          </p:nvSpPr>
          <p:spPr>
            <a:xfrm>
              <a:off x="3172727" y="2202381"/>
              <a:ext cx="2490537" cy="279307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4000" b="1" dirty="0">
                  <a:solidFill>
                    <a:schemeClr val="tx1"/>
                  </a:solidFill>
                </a:rPr>
                <a:t>678,115</a:t>
              </a:r>
              <a:endParaRPr lang="en-SG" sz="3600" b="1" dirty="0">
                <a:solidFill>
                  <a:schemeClr val="tx1"/>
                </a:solidFill>
              </a:endParaRPr>
            </a:p>
            <a:p>
              <a:pPr algn="ctr"/>
              <a:endParaRPr lang="en-SG" sz="3600" b="1" dirty="0">
                <a:solidFill>
                  <a:schemeClr val="tx1"/>
                </a:solidFill>
              </a:endParaRPr>
            </a:p>
            <a:p>
              <a:pPr algn="ctr"/>
              <a:endParaRPr lang="en-SG" sz="3600" b="1" dirty="0">
                <a:solidFill>
                  <a:schemeClr val="tx1"/>
                </a:solidFill>
              </a:endParaRPr>
            </a:p>
          </p:txBody>
        </p:sp>
        <p:sp>
          <p:nvSpPr>
            <p:cNvPr id="7" name="Rectangle 6">
              <a:extLst>
                <a:ext uri="{FF2B5EF4-FFF2-40B4-BE49-F238E27FC236}">
                  <a16:creationId xmlns:a16="http://schemas.microsoft.com/office/drawing/2014/main" id="{21FE43F7-6FF3-7743-1D76-41399B86329C}"/>
                </a:ext>
              </a:extLst>
            </p:cNvPr>
            <p:cNvSpPr/>
            <p:nvPr/>
          </p:nvSpPr>
          <p:spPr>
            <a:xfrm>
              <a:off x="3172727" y="3598044"/>
              <a:ext cx="2490537" cy="1397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solidFill>
                    <a:schemeClr val="bg2">
                      <a:lumMod val="90000"/>
                    </a:schemeClr>
                  </a:solidFill>
                </a:rPr>
                <a:t>Total Registrations</a:t>
              </a:r>
            </a:p>
            <a:p>
              <a:pPr algn="ctr"/>
              <a:r>
                <a:rPr lang="en-US" sz="2400" b="1" dirty="0"/>
                <a:t>2015</a:t>
              </a:r>
              <a:endParaRPr lang="en-SG" sz="2400" b="1" dirty="0"/>
            </a:p>
          </p:txBody>
        </p:sp>
        <p:sp>
          <p:nvSpPr>
            <p:cNvPr id="10" name="Rectangle: Rounded Corners 9">
              <a:extLst>
                <a:ext uri="{FF2B5EF4-FFF2-40B4-BE49-F238E27FC236}">
                  <a16:creationId xmlns:a16="http://schemas.microsoft.com/office/drawing/2014/main" id="{CECF5A6F-7967-081F-7197-04579DC8721D}"/>
                </a:ext>
              </a:extLst>
            </p:cNvPr>
            <p:cNvSpPr/>
            <p:nvPr/>
          </p:nvSpPr>
          <p:spPr>
            <a:xfrm>
              <a:off x="6838348" y="2201504"/>
              <a:ext cx="2490537" cy="279307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4000" dirty="0">
                  <a:solidFill>
                    <a:schemeClr val="tx1"/>
                  </a:solidFill>
                </a:rPr>
                <a:t>856,292</a:t>
              </a:r>
              <a:endParaRPr lang="en-SG" sz="4000" b="1" dirty="0">
                <a:solidFill>
                  <a:schemeClr val="tx1"/>
                </a:solidFill>
              </a:endParaRPr>
            </a:p>
            <a:p>
              <a:pPr algn="ctr"/>
              <a:endParaRPr lang="en-SG" sz="3600" b="1" dirty="0">
                <a:solidFill>
                  <a:schemeClr val="tx1"/>
                </a:solidFill>
              </a:endParaRPr>
            </a:p>
            <a:p>
              <a:pPr algn="ctr"/>
              <a:endParaRPr lang="en-SG" sz="3600" b="1" dirty="0">
                <a:solidFill>
                  <a:schemeClr val="tx1"/>
                </a:solidFill>
              </a:endParaRPr>
            </a:p>
          </p:txBody>
        </p:sp>
        <p:sp>
          <p:nvSpPr>
            <p:cNvPr id="11" name="Rectangle 10">
              <a:extLst>
                <a:ext uri="{FF2B5EF4-FFF2-40B4-BE49-F238E27FC236}">
                  <a16:creationId xmlns:a16="http://schemas.microsoft.com/office/drawing/2014/main" id="{DB85C6A2-AC87-32B2-BA52-0FE34333FD68}"/>
                </a:ext>
              </a:extLst>
            </p:cNvPr>
            <p:cNvSpPr/>
            <p:nvPr/>
          </p:nvSpPr>
          <p:spPr>
            <a:xfrm>
              <a:off x="6838348" y="3597167"/>
              <a:ext cx="2490537" cy="1397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solidFill>
                    <a:schemeClr val="bg2">
                      <a:lumMod val="90000"/>
                    </a:schemeClr>
                  </a:solidFill>
                </a:rPr>
                <a:t>Total Registrations</a:t>
              </a:r>
              <a:endParaRPr lang="en-US" b="1" dirty="0"/>
            </a:p>
            <a:p>
              <a:pPr algn="ctr"/>
              <a:r>
                <a:rPr lang="en-US" sz="2400" b="1" dirty="0"/>
                <a:t>2024</a:t>
              </a:r>
              <a:endParaRPr lang="en-SG" sz="2400" b="1" dirty="0"/>
            </a:p>
          </p:txBody>
        </p:sp>
      </p:grpSp>
      <p:cxnSp>
        <p:nvCxnSpPr>
          <p:cNvPr id="18" name="Straight Arrow Connector 17">
            <a:extLst>
              <a:ext uri="{FF2B5EF4-FFF2-40B4-BE49-F238E27FC236}">
                <a16:creationId xmlns:a16="http://schemas.microsoft.com/office/drawing/2014/main" id="{276E5A1C-2CFE-6EE0-8B6B-25DDC28DF274}"/>
              </a:ext>
            </a:extLst>
          </p:cNvPr>
          <p:cNvCxnSpPr/>
          <p:nvPr/>
        </p:nvCxnSpPr>
        <p:spPr>
          <a:xfrm>
            <a:off x="4484370" y="5292090"/>
            <a:ext cx="3223260" cy="0"/>
          </a:xfrm>
          <a:prstGeom prst="straightConnector1">
            <a:avLst/>
          </a:prstGeom>
          <a:ln w="38100">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077DE643-9950-1C64-65CA-5F2EBE980E3B}"/>
              </a:ext>
            </a:extLst>
          </p:cNvPr>
          <p:cNvSpPr txBox="1"/>
          <p:nvPr/>
        </p:nvSpPr>
        <p:spPr>
          <a:xfrm>
            <a:off x="5146909" y="5554980"/>
            <a:ext cx="1898182" cy="707886"/>
          </a:xfrm>
          <a:prstGeom prst="rect">
            <a:avLst/>
          </a:prstGeom>
        </p:spPr>
        <p:txBody>
          <a:bodyPr wrap="square" rtlCol="0">
            <a:spAutoFit/>
          </a:bodyPr>
          <a:lstStyle/>
          <a:p>
            <a:pPr marL="0" indent="0" algn="ctr">
              <a:lnSpc>
                <a:spcPct val="100000"/>
              </a:lnSpc>
              <a:spcBef>
                <a:spcPts val="0"/>
              </a:spcBef>
              <a:buFontTx/>
              <a:buNone/>
            </a:pPr>
            <a:r>
              <a:rPr lang="en-US" sz="4000" dirty="0">
                <a:solidFill>
                  <a:srgbClr val="00B050"/>
                </a:solidFill>
                <a:latin typeface="Posterama" panose="020B0504020200020000" pitchFamily="34" charset="0"/>
                <a:ea typeface="微软雅黑"/>
                <a:cs typeface="Posterama" panose="020B0504020200020000" pitchFamily="34" charset="0"/>
              </a:rPr>
              <a:t>26.28%</a:t>
            </a:r>
            <a:endParaRPr lang="en-SG" sz="4000" dirty="0">
              <a:solidFill>
                <a:srgbClr val="00B050"/>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4070841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90275E1-C6BA-7D82-3171-DB8BAD4CC028}"/>
              </a:ext>
            </a:extLst>
          </p:cNvPr>
          <p:cNvSpPr>
            <a:spLocks noGrp="1"/>
          </p:cNvSpPr>
          <p:nvPr>
            <p:ph type="title"/>
          </p:nvPr>
        </p:nvSpPr>
        <p:spPr/>
        <p:txBody>
          <a:bodyPr/>
          <a:lstStyle/>
          <a:p>
            <a:r>
              <a:rPr lang="en-SG" dirty="0"/>
              <a:t>Market Share Trends by EV Car Type</a:t>
            </a:r>
          </a:p>
        </p:txBody>
      </p:sp>
      <p:sp>
        <p:nvSpPr>
          <p:cNvPr id="12" name="Slide Number Placeholder 11">
            <a:extLst>
              <a:ext uri="{FF2B5EF4-FFF2-40B4-BE49-F238E27FC236}">
                <a16:creationId xmlns:a16="http://schemas.microsoft.com/office/drawing/2014/main" id="{B5970E68-A74A-6BBB-DA16-6DEE19D5C898}"/>
              </a:ext>
            </a:extLst>
          </p:cNvPr>
          <p:cNvSpPr>
            <a:spLocks noGrp="1"/>
          </p:cNvSpPr>
          <p:nvPr>
            <p:ph type="sldNum" sz="quarter" idx="29"/>
          </p:nvPr>
        </p:nvSpPr>
        <p:spPr/>
        <p:txBody>
          <a:bodyPr/>
          <a:lstStyle/>
          <a:p>
            <a:fld id="{47FEACEE-25B4-4A2D-B147-27296E36371D}" type="slidenum">
              <a:rPr lang="en-US" altLang="zh-CN" smtClean="0"/>
              <a:pPr/>
              <a:t>9</a:t>
            </a:fld>
            <a:endParaRPr lang="en-US" altLang="zh-CN" dirty="0"/>
          </a:p>
        </p:txBody>
      </p:sp>
      <p:pic>
        <p:nvPicPr>
          <p:cNvPr id="1026" name="Picture 2">
            <a:extLst>
              <a:ext uri="{FF2B5EF4-FFF2-40B4-BE49-F238E27FC236}">
                <a16:creationId xmlns:a16="http://schemas.microsoft.com/office/drawing/2014/main" id="{DBD48108-50FC-E023-65D4-B6F1148A8556}"/>
              </a:ext>
            </a:extLst>
          </p:cNvPr>
          <p:cNvPicPr>
            <a:picLocks noGrp="1" noChangeAspect="1" noChangeArrowheads="1"/>
          </p:cNvPicPr>
          <p:nvPr>
            <p:ph type="chart" sz="quarter" idx="27"/>
          </p:nvPr>
        </p:nvPicPr>
        <p:blipFill rotWithShape="1">
          <a:blip r:embed="rId3">
            <a:extLst>
              <a:ext uri="{28A0092B-C50C-407E-A947-70E740481C1C}">
                <a14:useLocalDpi xmlns:a14="http://schemas.microsoft.com/office/drawing/2010/main" val="0"/>
              </a:ext>
            </a:extLst>
          </a:blip>
          <a:srcRect t="5253"/>
          <a:stretch>
            <a:fillRect/>
          </a:stretch>
        </p:blipFill>
        <p:spPr bwMode="auto">
          <a:xfrm>
            <a:off x="1716752" y="1622510"/>
            <a:ext cx="8758495" cy="496053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26B4273D-0E84-7F60-0204-C64A6248E342}"/>
              </a:ext>
            </a:extLst>
          </p:cNvPr>
          <p:cNvSpPr/>
          <p:nvPr/>
        </p:nvSpPr>
        <p:spPr>
          <a:xfrm>
            <a:off x="9106014" y="3631096"/>
            <a:ext cx="2738466" cy="16043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Most popular: </a:t>
            </a:r>
          </a:p>
          <a:p>
            <a:pPr algn="ctr"/>
            <a:r>
              <a:rPr lang="en-US" sz="3200" dirty="0"/>
              <a:t>Sedan &amp; SUV</a:t>
            </a:r>
            <a:endParaRPr lang="en-SG" sz="3200" dirty="0"/>
          </a:p>
        </p:txBody>
      </p:sp>
    </p:spTree>
    <p:extLst>
      <p:ext uri="{BB962C8B-B14F-4D97-AF65-F5344CB8AC3E}">
        <p14:creationId xmlns:p14="http://schemas.microsoft.com/office/powerpoint/2010/main" val="3884723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B8543-9148-13B6-B025-30B446F904A3}"/>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6420891F-1344-0C7F-3727-243CA35AF0BC}"/>
              </a:ext>
            </a:extLst>
          </p:cNvPr>
          <p:cNvSpPr>
            <a:spLocks noGrp="1"/>
          </p:cNvSpPr>
          <p:nvPr>
            <p:ph type="title"/>
          </p:nvPr>
        </p:nvSpPr>
        <p:spPr/>
        <p:txBody>
          <a:bodyPr/>
          <a:lstStyle/>
          <a:p>
            <a:r>
              <a:rPr lang="en-SG" dirty="0"/>
              <a:t>Market Share Trends by Fuel Type</a:t>
            </a:r>
          </a:p>
        </p:txBody>
      </p:sp>
      <p:sp>
        <p:nvSpPr>
          <p:cNvPr id="14" name="Chart Placeholder 13">
            <a:extLst>
              <a:ext uri="{FF2B5EF4-FFF2-40B4-BE49-F238E27FC236}">
                <a16:creationId xmlns:a16="http://schemas.microsoft.com/office/drawing/2014/main" id="{18E35A38-762C-608F-FD09-9A366DBDB945}"/>
              </a:ext>
            </a:extLst>
          </p:cNvPr>
          <p:cNvSpPr>
            <a:spLocks noGrp="1"/>
          </p:cNvSpPr>
          <p:nvPr>
            <p:ph type="chart" sz="quarter" idx="27"/>
          </p:nvPr>
        </p:nvSpPr>
        <p:spPr/>
      </p:sp>
      <p:sp>
        <p:nvSpPr>
          <p:cNvPr id="12" name="Slide Number Placeholder 11">
            <a:extLst>
              <a:ext uri="{FF2B5EF4-FFF2-40B4-BE49-F238E27FC236}">
                <a16:creationId xmlns:a16="http://schemas.microsoft.com/office/drawing/2014/main" id="{60811778-6330-928C-34E5-B882B52BCCE6}"/>
              </a:ext>
            </a:extLst>
          </p:cNvPr>
          <p:cNvSpPr>
            <a:spLocks noGrp="1"/>
          </p:cNvSpPr>
          <p:nvPr>
            <p:ph type="sldNum" sz="quarter" idx="29"/>
          </p:nvPr>
        </p:nvSpPr>
        <p:spPr/>
        <p:txBody>
          <a:bodyPr/>
          <a:lstStyle/>
          <a:p>
            <a:fld id="{47FEACEE-25B4-4A2D-B147-27296E36371D}" type="slidenum">
              <a:rPr lang="en-US" altLang="zh-CN" smtClean="0"/>
              <a:pPr/>
              <a:t>10</a:t>
            </a:fld>
            <a:endParaRPr lang="en-US" altLang="zh-CN" dirty="0"/>
          </a:p>
        </p:txBody>
      </p:sp>
      <p:pic>
        <p:nvPicPr>
          <p:cNvPr id="2050" name="Picture 2">
            <a:extLst>
              <a:ext uri="{FF2B5EF4-FFF2-40B4-BE49-F238E27FC236}">
                <a16:creationId xmlns:a16="http://schemas.microsoft.com/office/drawing/2014/main" id="{31A90A28-208D-3E61-D165-737920ED82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884"/>
          <a:stretch>
            <a:fillRect/>
          </a:stretch>
        </p:blipFill>
        <p:spPr bwMode="auto">
          <a:xfrm>
            <a:off x="1338394" y="1915885"/>
            <a:ext cx="9515212" cy="469296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510E5A48-C334-2615-A931-4ED325D76D9D}"/>
              </a:ext>
            </a:extLst>
          </p:cNvPr>
          <p:cNvSpPr/>
          <p:nvPr/>
        </p:nvSpPr>
        <p:spPr>
          <a:xfrm>
            <a:off x="9106014" y="3631096"/>
            <a:ext cx="2738466" cy="16043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Sharpest growth: </a:t>
            </a:r>
          </a:p>
          <a:p>
            <a:pPr algn="ctr"/>
            <a:r>
              <a:rPr lang="en-US" sz="3200" dirty="0"/>
              <a:t>EV</a:t>
            </a:r>
            <a:endParaRPr lang="en-SG" sz="3200" dirty="0"/>
          </a:p>
        </p:txBody>
      </p:sp>
    </p:spTree>
    <p:extLst>
      <p:ext uri="{BB962C8B-B14F-4D97-AF65-F5344CB8AC3E}">
        <p14:creationId xmlns:p14="http://schemas.microsoft.com/office/powerpoint/2010/main" val="1844997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74C9E-9439-13D8-710D-80B4F08A76FB}"/>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790D620A-7585-1A46-B781-3CA4ED1EEB26}"/>
              </a:ext>
            </a:extLst>
          </p:cNvPr>
          <p:cNvSpPr>
            <a:spLocks noGrp="1"/>
          </p:cNvSpPr>
          <p:nvPr>
            <p:ph type="title"/>
          </p:nvPr>
        </p:nvSpPr>
        <p:spPr/>
        <p:txBody>
          <a:bodyPr/>
          <a:lstStyle/>
          <a:p>
            <a:r>
              <a:rPr lang="en-SG" dirty="0"/>
              <a:t>Market Share Trends by EV Maker</a:t>
            </a:r>
          </a:p>
        </p:txBody>
      </p:sp>
      <p:sp>
        <p:nvSpPr>
          <p:cNvPr id="14" name="Chart Placeholder 13">
            <a:extLst>
              <a:ext uri="{FF2B5EF4-FFF2-40B4-BE49-F238E27FC236}">
                <a16:creationId xmlns:a16="http://schemas.microsoft.com/office/drawing/2014/main" id="{19CB364A-C307-CB7E-E078-2FE0148507C3}"/>
              </a:ext>
            </a:extLst>
          </p:cNvPr>
          <p:cNvSpPr>
            <a:spLocks noGrp="1"/>
          </p:cNvSpPr>
          <p:nvPr>
            <p:ph type="chart" sz="quarter" idx="27"/>
          </p:nvPr>
        </p:nvSpPr>
        <p:spPr/>
      </p:sp>
      <p:sp>
        <p:nvSpPr>
          <p:cNvPr id="12" name="Slide Number Placeholder 11">
            <a:extLst>
              <a:ext uri="{FF2B5EF4-FFF2-40B4-BE49-F238E27FC236}">
                <a16:creationId xmlns:a16="http://schemas.microsoft.com/office/drawing/2014/main" id="{828D5E83-D596-BFE1-C1BE-90838914FD96}"/>
              </a:ext>
            </a:extLst>
          </p:cNvPr>
          <p:cNvSpPr>
            <a:spLocks noGrp="1"/>
          </p:cNvSpPr>
          <p:nvPr>
            <p:ph type="sldNum" sz="quarter" idx="29"/>
          </p:nvPr>
        </p:nvSpPr>
        <p:spPr/>
        <p:txBody>
          <a:bodyPr/>
          <a:lstStyle/>
          <a:p>
            <a:fld id="{47FEACEE-25B4-4A2D-B147-27296E36371D}" type="slidenum">
              <a:rPr lang="en-US" altLang="zh-CN" smtClean="0"/>
              <a:pPr/>
              <a:t>11</a:t>
            </a:fld>
            <a:endParaRPr lang="en-US" altLang="zh-CN" dirty="0"/>
          </a:p>
        </p:txBody>
      </p:sp>
      <p:pic>
        <p:nvPicPr>
          <p:cNvPr id="3074" name="Picture 2">
            <a:extLst>
              <a:ext uri="{FF2B5EF4-FFF2-40B4-BE49-F238E27FC236}">
                <a16:creationId xmlns:a16="http://schemas.microsoft.com/office/drawing/2014/main" id="{A6822EFE-1A8E-92A6-D4DB-A0BFF60E95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66"/>
          <a:stretch>
            <a:fillRect/>
          </a:stretch>
        </p:blipFill>
        <p:spPr bwMode="auto">
          <a:xfrm>
            <a:off x="1318260" y="1883229"/>
            <a:ext cx="9555479" cy="469981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19BF3853-BD1F-1ACB-0E2F-282ACA39DBB2}"/>
              </a:ext>
            </a:extLst>
          </p:cNvPr>
          <p:cNvSpPr/>
          <p:nvPr/>
        </p:nvSpPr>
        <p:spPr>
          <a:xfrm>
            <a:off x="9041101" y="4233137"/>
            <a:ext cx="2806341" cy="16043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Most popular in 2025: </a:t>
            </a:r>
          </a:p>
          <a:p>
            <a:pPr algn="ctr"/>
            <a:r>
              <a:rPr lang="en-US" sz="3200" dirty="0"/>
              <a:t>BYD &amp; Proton</a:t>
            </a:r>
            <a:endParaRPr lang="en-SG" sz="3200" dirty="0"/>
          </a:p>
        </p:txBody>
      </p:sp>
    </p:spTree>
    <p:extLst>
      <p:ext uri="{BB962C8B-B14F-4D97-AF65-F5344CB8AC3E}">
        <p14:creationId xmlns:p14="http://schemas.microsoft.com/office/powerpoint/2010/main" val="2453020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CD252-ACDC-C266-D0E4-47E867BFA466}"/>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4C04BCF3-1DB9-3CF8-CCDB-8C10C0BD376E}"/>
              </a:ext>
            </a:extLst>
          </p:cNvPr>
          <p:cNvSpPr>
            <a:spLocks noGrp="1"/>
          </p:cNvSpPr>
          <p:nvPr>
            <p:ph type="title"/>
          </p:nvPr>
        </p:nvSpPr>
        <p:spPr/>
        <p:txBody>
          <a:bodyPr/>
          <a:lstStyle/>
          <a:p>
            <a:r>
              <a:rPr lang="en-SG" dirty="0"/>
              <a:t>Market Share Trends by EV Car Model</a:t>
            </a:r>
          </a:p>
        </p:txBody>
      </p:sp>
      <p:sp>
        <p:nvSpPr>
          <p:cNvPr id="14" name="Chart Placeholder 13">
            <a:extLst>
              <a:ext uri="{FF2B5EF4-FFF2-40B4-BE49-F238E27FC236}">
                <a16:creationId xmlns:a16="http://schemas.microsoft.com/office/drawing/2014/main" id="{19A14CE2-7A69-A24D-707E-859732247100}"/>
              </a:ext>
            </a:extLst>
          </p:cNvPr>
          <p:cNvSpPr>
            <a:spLocks noGrp="1"/>
          </p:cNvSpPr>
          <p:nvPr>
            <p:ph type="chart" sz="quarter" idx="27"/>
          </p:nvPr>
        </p:nvSpPr>
        <p:spPr/>
      </p:sp>
      <p:sp>
        <p:nvSpPr>
          <p:cNvPr id="12" name="Slide Number Placeholder 11">
            <a:extLst>
              <a:ext uri="{FF2B5EF4-FFF2-40B4-BE49-F238E27FC236}">
                <a16:creationId xmlns:a16="http://schemas.microsoft.com/office/drawing/2014/main" id="{0D1C8FB9-B5B4-87E9-3AB2-C0CA5C9EC1CB}"/>
              </a:ext>
            </a:extLst>
          </p:cNvPr>
          <p:cNvSpPr>
            <a:spLocks noGrp="1"/>
          </p:cNvSpPr>
          <p:nvPr>
            <p:ph type="sldNum" sz="quarter" idx="29"/>
          </p:nvPr>
        </p:nvSpPr>
        <p:spPr/>
        <p:txBody>
          <a:bodyPr/>
          <a:lstStyle/>
          <a:p>
            <a:fld id="{47FEACEE-25B4-4A2D-B147-27296E36371D}" type="slidenum">
              <a:rPr lang="en-US" altLang="zh-CN" smtClean="0"/>
              <a:pPr/>
              <a:t>12</a:t>
            </a:fld>
            <a:endParaRPr lang="en-US" altLang="zh-CN" dirty="0"/>
          </a:p>
        </p:txBody>
      </p:sp>
      <p:pic>
        <p:nvPicPr>
          <p:cNvPr id="4098" name="Picture 2">
            <a:extLst>
              <a:ext uri="{FF2B5EF4-FFF2-40B4-BE49-F238E27FC236}">
                <a16:creationId xmlns:a16="http://schemas.microsoft.com/office/drawing/2014/main" id="{24EEE3B9-CC32-021A-A4AE-D6CE015BD1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491"/>
          <a:stretch>
            <a:fillRect/>
          </a:stretch>
        </p:blipFill>
        <p:spPr bwMode="auto">
          <a:xfrm>
            <a:off x="1734164" y="1719943"/>
            <a:ext cx="8723671" cy="486310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F98164CD-C592-A5A2-52EC-32974064004E}"/>
              </a:ext>
            </a:extLst>
          </p:cNvPr>
          <p:cNvSpPr/>
          <p:nvPr/>
        </p:nvSpPr>
        <p:spPr>
          <a:xfrm>
            <a:off x="8915498" y="4693522"/>
            <a:ext cx="3084674" cy="16043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Most popular in 2025: </a:t>
            </a:r>
          </a:p>
          <a:p>
            <a:pPr algn="ctr"/>
            <a:r>
              <a:rPr lang="en-US" sz="3200" dirty="0"/>
              <a:t>Proton </a:t>
            </a:r>
            <a:r>
              <a:rPr lang="en-US" sz="3200" dirty="0" err="1"/>
              <a:t>e.MAS</a:t>
            </a:r>
            <a:r>
              <a:rPr lang="en-US" sz="3200" dirty="0"/>
              <a:t> 7</a:t>
            </a:r>
            <a:endParaRPr lang="en-SG" sz="3200" dirty="0"/>
          </a:p>
        </p:txBody>
      </p:sp>
    </p:spTree>
    <p:extLst>
      <p:ext uri="{BB962C8B-B14F-4D97-AF65-F5344CB8AC3E}">
        <p14:creationId xmlns:p14="http://schemas.microsoft.com/office/powerpoint/2010/main" val="60952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E8436-DACE-0E85-EAD6-5143EA8A2DE2}"/>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6A92C48B-AB7E-34A9-6187-CC6665FF1342}"/>
              </a:ext>
            </a:extLst>
          </p:cNvPr>
          <p:cNvSpPr>
            <a:spLocks noGrp="1"/>
          </p:cNvSpPr>
          <p:nvPr>
            <p:ph type="title"/>
          </p:nvPr>
        </p:nvSpPr>
        <p:spPr>
          <a:xfrm>
            <a:off x="587828" y="507076"/>
            <a:ext cx="11458397" cy="1115434"/>
          </a:xfrm>
        </p:spPr>
        <p:txBody>
          <a:bodyPr/>
          <a:lstStyle/>
          <a:p>
            <a:r>
              <a:rPr lang="en-SG" sz="4000" dirty="0"/>
              <a:t>Market Share Trends by EV Makers’ Region of Origin</a:t>
            </a:r>
          </a:p>
        </p:txBody>
      </p:sp>
      <p:sp>
        <p:nvSpPr>
          <p:cNvPr id="14" name="Chart Placeholder 13">
            <a:extLst>
              <a:ext uri="{FF2B5EF4-FFF2-40B4-BE49-F238E27FC236}">
                <a16:creationId xmlns:a16="http://schemas.microsoft.com/office/drawing/2014/main" id="{05CDDACB-88C9-D383-93C0-76364B6E0147}"/>
              </a:ext>
            </a:extLst>
          </p:cNvPr>
          <p:cNvSpPr>
            <a:spLocks noGrp="1"/>
          </p:cNvSpPr>
          <p:nvPr>
            <p:ph type="chart" sz="quarter" idx="27"/>
          </p:nvPr>
        </p:nvSpPr>
        <p:spPr/>
      </p:sp>
      <p:sp>
        <p:nvSpPr>
          <p:cNvPr id="12" name="Slide Number Placeholder 11">
            <a:extLst>
              <a:ext uri="{FF2B5EF4-FFF2-40B4-BE49-F238E27FC236}">
                <a16:creationId xmlns:a16="http://schemas.microsoft.com/office/drawing/2014/main" id="{33298B5D-09F3-5514-2BCA-3F1CDF826335}"/>
              </a:ext>
            </a:extLst>
          </p:cNvPr>
          <p:cNvSpPr>
            <a:spLocks noGrp="1"/>
          </p:cNvSpPr>
          <p:nvPr>
            <p:ph type="sldNum" sz="quarter" idx="29"/>
          </p:nvPr>
        </p:nvSpPr>
        <p:spPr/>
        <p:txBody>
          <a:bodyPr/>
          <a:lstStyle/>
          <a:p>
            <a:fld id="{47FEACEE-25B4-4A2D-B147-27296E36371D}" type="slidenum">
              <a:rPr lang="en-US" altLang="zh-CN" smtClean="0"/>
              <a:pPr/>
              <a:t>13</a:t>
            </a:fld>
            <a:endParaRPr lang="en-US" altLang="zh-CN" dirty="0"/>
          </a:p>
        </p:txBody>
      </p:sp>
      <p:pic>
        <p:nvPicPr>
          <p:cNvPr id="5122" name="Picture 2">
            <a:extLst>
              <a:ext uri="{FF2B5EF4-FFF2-40B4-BE49-F238E27FC236}">
                <a16:creationId xmlns:a16="http://schemas.microsoft.com/office/drawing/2014/main" id="{873D4264-4A5F-E20E-E96C-8FA2CD02DC5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951"/>
          <a:stretch>
            <a:fillRect/>
          </a:stretch>
        </p:blipFill>
        <p:spPr bwMode="auto">
          <a:xfrm>
            <a:off x="1454206" y="1839685"/>
            <a:ext cx="9283587" cy="474335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0A0C4A71-E17F-DF99-DDCE-6C142800147F}"/>
              </a:ext>
            </a:extLst>
          </p:cNvPr>
          <p:cNvSpPr/>
          <p:nvPr/>
        </p:nvSpPr>
        <p:spPr>
          <a:xfrm>
            <a:off x="9285355" y="3591503"/>
            <a:ext cx="2738466" cy="16043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Most popular: </a:t>
            </a:r>
          </a:p>
          <a:p>
            <a:pPr algn="ctr"/>
            <a:r>
              <a:rPr lang="en-US" sz="3200" dirty="0"/>
              <a:t>Chinese brands</a:t>
            </a:r>
            <a:endParaRPr lang="en-SG" sz="3200" dirty="0"/>
          </a:p>
        </p:txBody>
      </p:sp>
    </p:spTree>
    <p:extLst>
      <p:ext uri="{BB962C8B-B14F-4D97-AF65-F5344CB8AC3E}">
        <p14:creationId xmlns:p14="http://schemas.microsoft.com/office/powerpoint/2010/main" val="3637819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8F640-33A7-74E1-3C73-7E95649F45A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21706149-63DE-ECC2-9642-3F819B0CF7DF}"/>
              </a:ext>
            </a:extLst>
          </p:cNvPr>
          <p:cNvSpPr>
            <a:spLocks noGrp="1"/>
          </p:cNvSpPr>
          <p:nvPr>
            <p:ph type="title"/>
          </p:nvPr>
        </p:nvSpPr>
        <p:spPr/>
        <p:txBody>
          <a:bodyPr/>
          <a:lstStyle/>
          <a:p>
            <a:r>
              <a:rPr lang="en-US" sz="3200" dirty="0"/>
              <a:t>Median price Malaysian car owners pay for a petrol car</a:t>
            </a:r>
          </a:p>
        </p:txBody>
      </p:sp>
      <p:sp>
        <p:nvSpPr>
          <p:cNvPr id="12" name="Slide Number Placeholder 11">
            <a:extLst>
              <a:ext uri="{FF2B5EF4-FFF2-40B4-BE49-F238E27FC236}">
                <a16:creationId xmlns:a16="http://schemas.microsoft.com/office/drawing/2014/main" id="{E849B65F-650B-9C70-3EF0-7B0A8CF2B6B7}"/>
              </a:ext>
            </a:extLst>
          </p:cNvPr>
          <p:cNvSpPr>
            <a:spLocks noGrp="1"/>
          </p:cNvSpPr>
          <p:nvPr>
            <p:ph type="sldNum" sz="quarter" idx="29"/>
          </p:nvPr>
        </p:nvSpPr>
        <p:spPr/>
        <p:txBody>
          <a:bodyPr/>
          <a:lstStyle/>
          <a:p>
            <a:fld id="{47FEACEE-25B4-4A2D-B147-27296E36371D}" type="slidenum">
              <a:rPr lang="en-US" altLang="zh-CN" smtClean="0"/>
              <a:pPr/>
              <a:t>14</a:t>
            </a:fld>
            <a:endParaRPr lang="en-US" altLang="zh-CN" dirty="0"/>
          </a:p>
        </p:txBody>
      </p:sp>
      <p:graphicFrame>
        <p:nvGraphicFramePr>
          <p:cNvPr id="2" name="Table 1">
            <a:extLst>
              <a:ext uri="{FF2B5EF4-FFF2-40B4-BE49-F238E27FC236}">
                <a16:creationId xmlns:a16="http://schemas.microsoft.com/office/drawing/2014/main" id="{1A012A2F-64D6-FD43-56BB-0DC5C9B36430}"/>
              </a:ext>
            </a:extLst>
          </p:cNvPr>
          <p:cNvGraphicFramePr>
            <a:graphicFrameLocks noGrp="1"/>
          </p:cNvGraphicFramePr>
          <p:nvPr>
            <p:extLst>
              <p:ext uri="{D42A27DB-BD31-4B8C-83A1-F6EECF244321}">
                <p14:modId xmlns:p14="http://schemas.microsoft.com/office/powerpoint/2010/main" val="1131050009"/>
              </p:ext>
            </p:extLst>
          </p:nvPr>
        </p:nvGraphicFramePr>
        <p:xfrm>
          <a:off x="1088571" y="1587818"/>
          <a:ext cx="10014858" cy="4997450"/>
        </p:xfrm>
        <a:graphic>
          <a:graphicData uri="http://schemas.openxmlformats.org/drawingml/2006/table">
            <a:tbl>
              <a:tblPr/>
              <a:tblGrid>
                <a:gridCol w="3578088">
                  <a:extLst>
                    <a:ext uri="{9D8B030D-6E8A-4147-A177-3AD203B41FA5}">
                      <a16:colId xmlns:a16="http://schemas.microsoft.com/office/drawing/2014/main" val="1510931303"/>
                    </a:ext>
                  </a:extLst>
                </a:gridCol>
                <a:gridCol w="3218385">
                  <a:extLst>
                    <a:ext uri="{9D8B030D-6E8A-4147-A177-3AD203B41FA5}">
                      <a16:colId xmlns:a16="http://schemas.microsoft.com/office/drawing/2014/main" val="76701653"/>
                    </a:ext>
                  </a:extLst>
                </a:gridCol>
                <a:gridCol w="3218385">
                  <a:extLst>
                    <a:ext uri="{9D8B030D-6E8A-4147-A177-3AD203B41FA5}">
                      <a16:colId xmlns:a16="http://schemas.microsoft.com/office/drawing/2014/main" val="2402191726"/>
                    </a:ext>
                  </a:extLst>
                </a:gridCol>
              </a:tblGrid>
              <a:tr h="679450">
                <a:tc>
                  <a:txBody>
                    <a:bodyPr/>
                    <a:lstStyle/>
                    <a:p>
                      <a:pPr algn="ctr" rtl="0" fontAlgn="t">
                        <a:buNone/>
                      </a:pPr>
                      <a:r>
                        <a:rPr lang="en-US" sz="1400" b="1" i="0" u="none" strike="noStrike" dirty="0">
                          <a:solidFill>
                            <a:srgbClr val="FFFFFF"/>
                          </a:solidFill>
                          <a:effectLst/>
                          <a:latin typeface="+mn-lt"/>
                        </a:rPr>
                        <a:t>Top 10 Petrol Models</a:t>
                      </a:r>
                      <a:endParaRPr lang="en-US" sz="1400" dirty="0">
                        <a:effectLst/>
                        <a:latin typeface="+mn-lt"/>
                      </a:endParaRPr>
                    </a:p>
                    <a:p>
                      <a:pPr algn="ctr" rtl="0" fontAlgn="t">
                        <a:buNone/>
                      </a:pPr>
                      <a:r>
                        <a:rPr lang="en-US" sz="1400" b="1" i="0" u="none" strike="noStrike" dirty="0">
                          <a:solidFill>
                            <a:srgbClr val="FFFFFF"/>
                          </a:solidFill>
                          <a:effectLst/>
                          <a:latin typeface="+mn-lt"/>
                        </a:rPr>
                        <a:t>(by total market share from 2015 to 2025)</a:t>
                      </a:r>
                      <a:endParaRPr lang="en-US" sz="1400" dirty="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rtl="0" fontAlgn="t">
                        <a:buNone/>
                      </a:pPr>
                      <a:r>
                        <a:rPr lang="en-US" sz="1400" b="1" i="0" u="none" strike="noStrike" dirty="0">
                          <a:solidFill>
                            <a:srgbClr val="FFFFFF"/>
                          </a:solidFill>
                          <a:effectLst/>
                          <a:latin typeface="+mn-lt"/>
                        </a:rPr>
                        <a:t>Minimum On‑Road Price </a:t>
                      </a:r>
                      <a:endParaRPr lang="en-US" sz="1400" dirty="0">
                        <a:effectLst/>
                        <a:latin typeface="+mn-lt"/>
                      </a:endParaRPr>
                    </a:p>
                    <a:p>
                      <a:pPr algn="ctr" rtl="0" fontAlgn="t">
                        <a:buNone/>
                      </a:pPr>
                      <a:r>
                        <a:rPr lang="en-US" sz="1400" b="1" i="0" u="none" strike="noStrike" dirty="0">
                          <a:solidFill>
                            <a:srgbClr val="FFFFFF"/>
                          </a:solidFill>
                          <a:effectLst/>
                          <a:latin typeface="+mn-lt"/>
                        </a:rPr>
                        <a:t>(RM)</a:t>
                      </a:r>
                      <a:endParaRPr lang="en-US" sz="1400" dirty="0">
                        <a:effectLst/>
                        <a:latin typeface="+mn-lt"/>
                      </a:endParaRPr>
                    </a:p>
                  </a:txBody>
                  <a:tcPr marL="63500" marR="63500" marT="63500" marB="6350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rtl="0" fontAlgn="t">
                        <a:buNone/>
                      </a:pPr>
                      <a:r>
                        <a:rPr lang="en-SG" sz="1400" b="1" i="0" u="none" strike="noStrike" dirty="0">
                          <a:solidFill>
                            <a:srgbClr val="FFFFFF"/>
                          </a:solidFill>
                          <a:effectLst/>
                          <a:latin typeface="+mn-lt"/>
                        </a:rPr>
                        <a:t>Registration Count</a:t>
                      </a:r>
                      <a:endParaRPr lang="en-SG" sz="1400" dirty="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666635086"/>
                  </a:ext>
                </a:extLst>
              </a:tr>
              <a:tr h="307975">
                <a:tc>
                  <a:txBody>
                    <a:bodyPr/>
                    <a:lstStyle/>
                    <a:p>
                      <a:pPr rtl="0" fontAlgn="t">
                        <a:buNone/>
                      </a:pPr>
                      <a:r>
                        <a:rPr lang="en-SG" sz="2000" b="0" i="0" u="none" strike="noStrike" dirty="0">
                          <a:solidFill>
                            <a:srgbClr val="000000"/>
                          </a:solidFill>
                          <a:effectLst/>
                          <a:latin typeface="+mn-lt"/>
                        </a:rPr>
                        <a:t>Axia</a:t>
                      </a:r>
                      <a:endParaRPr lang="en-SG" sz="2000" dirty="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SG" sz="2000" b="0" i="0" u="none" strike="noStrike" dirty="0">
                          <a:solidFill>
                            <a:srgbClr val="000000"/>
                          </a:solidFill>
                          <a:effectLst/>
                          <a:latin typeface="+mn-lt"/>
                        </a:rPr>
                        <a:t>22,000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757707</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8434540"/>
                  </a:ext>
                </a:extLst>
              </a:tr>
              <a:tr h="307975">
                <a:tc>
                  <a:txBody>
                    <a:bodyPr/>
                    <a:lstStyle/>
                    <a:p>
                      <a:pPr rtl="0" fontAlgn="t">
                        <a:buNone/>
                      </a:pPr>
                      <a:r>
                        <a:rPr lang="en-SG" sz="2000" b="0" i="0" u="none" strike="noStrike" dirty="0" err="1">
                          <a:solidFill>
                            <a:srgbClr val="000000"/>
                          </a:solidFill>
                          <a:effectLst/>
                          <a:latin typeface="+mn-lt"/>
                        </a:rPr>
                        <a:t>Myvi</a:t>
                      </a:r>
                      <a:endParaRPr lang="en-SG" sz="2000" dirty="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SG" sz="2000" b="0" i="0" u="none" strike="noStrike" dirty="0">
                          <a:solidFill>
                            <a:srgbClr val="000000"/>
                          </a:solidFill>
                          <a:effectLst/>
                          <a:latin typeface="+mn-lt"/>
                        </a:rPr>
                        <a:t>46,500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dirty="0">
                          <a:solidFill>
                            <a:srgbClr val="000000"/>
                          </a:solidFill>
                          <a:effectLst/>
                          <a:latin typeface="+mn-lt"/>
                        </a:rPr>
                        <a:t>711592</a:t>
                      </a:r>
                      <a:endParaRPr lang="en-SG" sz="2000" dirty="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6194181"/>
                  </a:ext>
                </a:extLst>
              </a:tr>
              <a:tr h="307975">
                <a:tc>
                  <a:txBody>
                    <a:bodyPr/>
                    <a:lstStyle/>
                    <a:p>
                      <a:pPr rtl="0" fontAlgn="t">
                        <a:buNone/>
                      </a:pPr>
                      <a:r>
                        <a:rPr lang="en-SG" sz="2000" b="0" i="0" u="none" strike="noStrike" dirty="0">
                          <a:solidFill>
                            <a:srgbClr val="000000"/>
                          </a:solidFill>
                          <a:effectLst/>
                          <a:latin typeface="+mn-lt"/>
                        </a:rPr>
                        <a:t>Bezza</a:t>
                      </a:r>
                      <a:endParaRPr lang="en-SG" sz="2000" dirty="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SG" sz="2000" b="0" i="0" u="none" strike="noStrike" dirty="0">
                          <a:solidFill>
                            <a:srgbClr val="000000"/>
                          </a:solidFill>
                          <a:effectLst/>
                          <a:latin typeface="+mn-lt"/>
                        </a:rPr>
                        <a:t>34,580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589423</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2181709"/>
                  </a:ext>
                </a:extLst>
              </a:tr>
              <a:tr h="307975">
                <a:tc>
                  <a:txBody>
                    <a:bodyPr/>
                    <a:lstStyle/>
                    <a:p>
                      <a:pPr rtl="0" fontAlgn="t">
                        <a:buNone/>
                      </a:pPr>
                      <a:r>
                        <a:rPr lang="en-SG" sz="2000" b="0" i="0" u="none" strike="noStrike" dirty="0">
                          <a:solidFill>
                            <a:srgbClr val="000000"/>
                          </a:solidFill>
                          <a:effectLst/>
                          <a:latin typeface="+mn-lt"/>
                        </a:rPr>
                        <a:t>Saga</a:t>
                      </a:r>
                      <a:endParaRPr lang="en-SG" sz="2000" dirty="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SG" sz="2000" b="0" i="0" u="none" strike="noStrike" dirty="0">
                          <a:solidFill>
                            <a:srgbClr val="000000"/>
                          </a:solidFill>
                          <a:effectLst/>
                          <a:latin typeface="+mn-lt"/>
                        </a:rPr>
                        <a:t>34,800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478611</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2627187"/>
                  </a:ext>
                </a:extLst>
              </a:tr>
              <a:tr h="307975">
                <a:tc>
                  <a:txBody>
                    <a:bodyPr/>
                    <a:lstStyle/>
                    <a:p>
                      <a:pPr rtl="0" fontAlgn="t">
                        <a:buNone/>
                      </a:pPr>
                      <a:r>
                        <a:rPr lang="en-SG" sz="2000" b="0" i="0" u="none" strike="noStrike">
                          <a:solidFill>
                            <a:srgbClr val="000000"/>
                          </a:solidFill>
                          <a:effectLst/>
                          <a:latin typeface="+mn-lt"/>
                        </a:rPr>
                        <a:t>City</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SG" sz="2000" b="0" i="0" u="none" strike="noStrike" dirty="0">
                          <a:solidFill>
                            <a:srgbClr val="000000"/>
                          </a:solidFill>
                          <a:effectLst/>
                          <a:latin typeface="+mn-lt"/>
                        </a:rPr>
                        <a:t>84,900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326352</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1673533"/>
                  </a:ext>
                </a:extLst>
              </a:tr>
              <a:tr h="307975">
                <a:tc>
                  <a:txBody>
                    <a:bodyPr/>
                    <a:lstStyle/>
                    <a:p>
                      <a:pPr rtl="0" fontAlgn="t">
                        <a:buNone/>
                      </a:pPr>
                      <a:r>
                        <a:rPr lang="en-SG" sz="2000" b="0" i="0" u="none" strike="noStrike">
                          <a:solidFill>
                            <a:srgbClr val="000000"/>
                          </a:solidFill>
                          <a:effectLst/>
                          <a:latin typeface="+mn-lt"/>
                        </a:rPr>
                        <a:t>Alza</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SG" sz="2000" b="0" i="0" u="none" strike="noStrike" dirty="0">
                          <a:solidFill>
                            <a:srgbClr val="000000"/>
                          </a:solidFill>
                          <a:effectLst/>
                          <a:latin typeface="+mn-lt"/>
                        </a:rPr>
                        <a:t>62,500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299650</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486205"/>
                  </a:ext>
                </a:extLst>
              </a:tr>
              <a:tr h="307975">
                <a:tc>
                  <a:txBody>
                    <a:bodyPr/>
                    <a:lstStyle/>
                    <a:p>
                      <a:pPr rtl="0" fontAlgn="t">
                        <a:buNone/>
                      </a:pPr>
                      <a:r>
                        <a:rPr lang="en-SG" sz="2000" b="0" i="0" u="none" strike="noStrike">
                          <a:solidFill>
                            <a:srgbClr val="000000"/>
                          </a:solidFill>
                          <a:effectLst/>
                          <a:latin typeface="+mn-lt"/>
                        </a:rPr>
                        <a:t>Vios</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SG" sz="2000" b="0" i="0" u="none" strike="noStrike" dirty="0">
                          <a:solidFill>
                            <a:srgbClr val="000000"/>
                          </a:solidFill>
                          <a:effectLst/>
                          <a:latin typeface="+mn-lt"/>
                        </a:rPr>
                        <a:t>89,600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257144</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9490895"/>
                  </a:ext>
                </a:extLst>
              </a:tr>
              <a:tr h="307975">
                <a:tc>
                  <a:txBody>
                    <a:bodyPr/>
                    <a:lstStyle/>
                    <a:p>
                      <a:pPr rtl="0" fontAlgn="t">
                        <a:buNone/>
                      </a:pPr>
                      <a:r>
                        <a:rPr lang="en-SG" sz="2000" b="0" i="0" u="none" strike="noStrike">
                          <a:solidFill>
                            <a:srgbClr val="000000"/>
                          </a:solidFill>
                          <a:effectLst/>
                          <a:latin typeface="+mn-lt"/>
                        </a:rPr>
                        <a:t>Persona</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SG" sz="2000" b="0" i="0" u="none" strike="noStrike" dirty="0">
                          <a:solidFill>
                            <a:srgbClr val="000000"/>
                          </a:solidFill>
                          <a:effectLst/>
                          <a:latin typeface="+mn-lt"/>
                        </a:rPr>
                        <a:t>44,600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187412</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1615852"/>
                  </a:ext>
                </a:extLst>
              </a:tr>
              <a:tr h="307975">
                <a:tc>
                  <a:txBody>
                    <a:bodyPr/>
                    <a:lstStyle/>
                    <a:p>
                      <a:pPr rtl="0" fontAlgn="t">
                        <a:buNone/>
                      </a:pPr>
                      <a:r>
                        <a:rPr lang="en-SG" sz="2000" b="0" i="0" u="none" strike="noStrike">
                          <a:solidFill>
                            <a:srgbClr val="000000"/>
                          </a:solidFill>
                          <a:effectLst/>
                          <a:latin typeface="+mn-lt"/>
                        </a:rPr>
                        <a:t>HR-V</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SG" sz="2000" b="0" i="0" u="none" strike="noStrike" dirty="0">
                          <a:solidFill>
                            <a:srgbClr val="000000"/>
                          </a:solidFill>
                          <a:effectLst/>
                          <a:latin typeface="+mn-lt"/>
                        </a:rPr>
                        <a:t>115,900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dirty="0">
                          <a:solidFill>
                            <a:srgbClr val="000000"/>
                          </a:solidFill>
                          <a:effectLst/>
                          <a:latin typeface="+mn-lt"/>
                        </a:rPr>
                        <a:t>170543</a:t>
                      </a:r>
                      <a:endParaRPr lang="en-SG" sz="2000" dirty="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3643409"/>
                  </a:ext>
                </a:extLst>
              </a:tr>
              <a:tr h="307975">
                <a:tc>
                  <a:txBody>
                    <a:bodyPr/>
                    <a:lstStyle/>
                    <a:p>
                      <a:pPr rtl="0" fontAlgn="t">
                        <a:buNone/>
                      </a:pPr>
                      <a:r>
                        <a:rPr lang="en-SG" sz="2000" b="0" i="0" u="none" strike="noStrike" dirty="0">
                          <a:solidFill>
                            <a:srgbClr val="000000"/>
                          </a:solidFill>
                          <a:effectLst/>
                          <a:latin typeface="+mn-lt"/>
                        </a:rPr>
                        <a:t>Ativa</a:t>
                      </a:r>
                      <a:endParaRPr lang="en-SG" sz="2000" dirty="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SG" sz="2000" b="0" i="0" u="none" strike="noStrike" dirty="0">
                          <a:solidFill>
                            <a:srgbClr val="000000"/>
                          </a:solidFill>
                          <a:effectLst/>
                          <a:latin typeface="+mn-lt"/>
                        </a:rPr>
                        <a:t>71,200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dirty="0">
                          <a:solidFill>
                            <a:srgbClr val="000000"/>
                          </a:solidFill>
                          <a:effectLst/>
                          <a:latin typeface="+mn-lt"/>
                        </a:rPr>
                        <a:t>149273</a:t>
                      </a:r>
                      <a:endParaRPr lang="en-SG" sz="2000" dirty="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1100459"/>
                  </a:ext>
                </a:extLst>
              </a:tr>
            </a:tbl>
          </a:graphicData>
        </a:graphic>
      </p:graphicFrame>
      <p:sp>
        <p:nvSpPr>
          <p:cNvPr id="3" name="Rectangle 1">
            <a:extLst>
              <a:ext uri="{FF2B5EF4-FFF2-40B4-BE49-F238E27FC236}">
                <a16:creationId xmlns:a16="http://schemas.microsoft.com/office/drawing/2014/main" id="{BD43120F-3282-F577-E577-1989BA5A1677}"/>
              </a:ext>
            </a:extLst>
          </p:cNvPr>
          <p:cNvSpPr>
            <a:spLocks noChangeArrowheads="1"/>
          </p:cNvSpPr>
          <p:nvPr/>
        </p:nvSpPr>
        <p:spPr bwMode="auto">
          <a:xfrm>
            <a:off x="4416425" y="19796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SG"/>
          </a:p>
        </p:txBody>
      </p:sp>
      <p:sp>
        <p:nvSpPr>
          <p:cNvPr id="4" name="Rectangle: Rounded Corners 3">
            <a:extLst>
              <a:ext uri="{FF2B5EF4-FFF2-40B4-BE49-F238E27FC236}">
                <a16:creationId xmlns:a16="http://schemas.microsoft.com/office/drawing/2014/main" id="{86AA1F27-39FD-BE12-997C-4C73B9B46106}"/>
              </a:ext>
            </a:extLst>
          </p:cNvPr>
          <p:cNvSpPr/>
          <p:nvPr/>
        </p:nvSpPr>
        <p:spPr>
          <a:xfrm>
            <a:off x="9143192" y="3517555"/>
            <a:ext cx="2738466" cy="16043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Weighted median price: </a:t>
            </a:r>
          </a:p>
          <a:p>
            <a:pPr algn="ctr"/>
            <a:r>
              <a:rPr lang="en-US" sz="3200" dirty="0"/>
              <a:t>RM 44,600</a:t>
            </a:r>
            <a:endParaRPr lang="en-SG" sz="3200" dirty="0"/>
          </a:p>
        </p:txBody>
      </p:sp>
    </p:spTree>
    <p:extLst>
      <p:ext uri="{BB962C8B-B14F-4D97-AF65-F5344CB8AC3E}">
        <p14:creationId xmlns:p14="http://schemas.microsoft.com/office/powerpoint/2010/main" val="407623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337ED-0F66-45B6-BE5F-B068E815B04D}"/>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9493303B-70E1-409C-CAE7-CF9A1BEFD201}"/>
              </a:ext>
            </a:extLst>
          </p:cNvPr>
          <p:cNvSpPr>
            <a:spLocks noGrp="1"/>
          </p:cNvSpPr>
          <p:nvPr>
            <p:ph type="title"/>
          </p:nvPr>
        </p:nvSpPr>
        <p:spPr/>
        <p:txBody>
          <a:bodyPr/>
          <a:lstStyle/>
          <a:p>
            <a:r>
              <a:rPr lang="en-US" sz="3200" dirty="0"/>
              <a:t>Median price Malaysian car owners pay for an EV </a:t>
            </a:r>
          </a:p>
        </p:txBody>
      </p:sp>
      <p:sp>
        <p:nvSpPr>
          <p:cNvPr id="12" name="Slide Number Placeholder 11">
            <a:extLst>
              <a:ext uri="{FF2B5EF4-FFF2-40B4-BE49-F238E27FC236}">
                <a16:creationId xmlns:a16="http://schemas.microsoft.com/office/drawing/2014/main" id="{058B69DF-57D5-0D02-B01C-926812B0C2E9}"/>
              </a:ext>
            </a:extLst>
          </p:cNvPr>
          <p:cNvSpPr>
            <a:spLocks noGrp="1"/>
          </p:cNvSpPr>
          <p:nvPr>
            <p:ph type="sldNum" sz="quarter" idx="29"/>
          </p:nvPr>
        </p:nvSpPr>
        <p:spPr/>
        <p:txBody>
          <a:bodyPr/>
          <a:lstStyle/>
          <a:p>
            <a:fld id="{47FEACEE-25B4-4A2D-B147-27296E36371D}" type="slidenum">
              <a:rPr lang="en-US" altLang="zh-CN" smtClean="0"/>
              <a:pPr/>
              <a:t>15</a:t>
            </a:fld>
            <a:endParaRPr lang="en-US" altLang="zh-CN" dirty="0"/>
          </a:p>
        </p:txBody>
      </p:sp>
      <p:graphicFrame>
        <p:nvGraphicFramePr>
          <p:cNvPr id="2" name="Table 1">
            <a:extLst>
              <a:ext uri="{FF2B5EF4-FFF2-40B4-BE49-F238E27FC236}">
                <a16:creationId xmlns:a16="http://schemas.microsoft.com/office/drawing/2014/main" id="{48969B6D-65EB-4AA8-FD31-7446880D2827}"/>
              </a:ext>
            </a:extLst>
          </p:cNvPr>
          <p:cNvGraphicFramePr>
            <a:graphicFrameLocks noGrp="1"/>
          </p:cNvGraphicFramePr>
          <p:nvPr>
            <p:extLst>
              <p:ext uri="{D42A27DB-BD31-4B8C-83A1-F6EECF244321}">
                <p14:modId xmlns:p14="http://schemas.microsoft.com/office/powerpoint/2010/main" val="3313061010"/>
              </p:ext>
            </p:extLst>
          </p:nvPr>
        </p:nvGraphicFramePr>
        <p:xfrm>
          <a:off x="1088572" y="1585595"/>
          <a:ext cx="10014857" cy="4997450"/>
        </p:xfrm>
        <a:graphic>
          <a:graphicData uri="http://schemas.openxmlformats.org/drawingml/2006/table">
            <a:tbl>
              <a:tblPr/>
              <a:tblGrid>
                <a:gridCol w="3578087">
                  <a:extLst>
                    <a:ext uri="{9D8B030D-6E8A-4147-A177-3AD203B41FA5}">
                      <a16:colId xmlns:a16="http://schemas.microsoft.com/office/drawing/2014/main" val="91366706"/>
                    </a:ext>
                  </a:extLst>
                </a:gridCol>
                <a:gridCol w="3218385">
                  <a:extLst>
                    <a:ext uri="{9D8B030D-6E8A-4147-A177-3AD203B41FA5}">
                      <a16:colId xmlns:a16="http://schemas.microsoft.com/office/drawing/2014/main" val="280743042"/>
                    </a:ext>
                  </a:extLst>
                </a:gridCol>
                <a:gridCol w="3218385">
                  <a:extLst>
                    <a:ext uri="{9D8B030D-6E8A-4147-A177-3AD203B41FA5}">
                      <a16:colId xmlns:a16="http://schemas.microsoft.com/office/drawing/2014/main" val="1587609398"/>
                    </a:ext>
                  </a:extLst>
                </a:gridCol>
              </a:tblGrid>
              <a:tr h="679450">
                <a:tc>
                  <a:txBody>
                    <a:bodyPr/>
                    <a:lstStyle/>
                    <a:p>
                      <a:pPr algn="ctr" rtl="0" fontAlgn="t">
                        <a:buNone/>
                      </a:pPr>
                      <a:r>
                        <a:rPr lang="en-US" sz="1400" b="1" i="0" u="none" strike="noStrike" dirty="0">
                          <a:solidFill>
                            <a:srgbClr val="FFFFFF"/>
                          </a:solidFill>
                          <a:effectLst/>
                          <a:latin typeface="+mn-lt"/>
                        </a:rPr>
                        <a:t>Top 10 EV Models</a:t>
                      </a:r>
                      <a:endParaRPr lang="en-US" sz="1400" dirty="0">
                        <a:effectLst/>
                        <a:latin typeface="+mn-lt"/>
                      </a:endParaRPr>
                    </a:p>
                    <a:p>
                      <a:pPr algn="ctr" rtl="0" fontAlgn="t">
                        <a:buNone/>
                      </a:pPr>
                      <a:r>
                        <a:rPr lang="en-US" sz="1400" b="1" i="0" u="none" strike="noStrike" dirty="0">
                          <a:solidFill>
                            <a:srgbClr val="FFFFFF"/>
                          </a:solidFill>
                          <a:effectLst/>
                          <a:latin typeface="+mn-lt"/>
                        </a:rPr>
                        <a:t>(by total market share from 2015 to 2025)</a:t>
                      </a:r>
                      <a:endParaRPr lang="en-US" sz="1400" dirty="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rtl="0" fontAlgn="t">
                        <a:buNone/>
                      </a:pPr>
                      <a:r>
                        <a:rPr lang="en-US" sz="1400" b="1" i="0" u="none" strike="noStrike">
                          <a:solidFill>
                            <a:srgbClr val="FFFFFF"/>
                          </a:solidFill>
                          <a:effectLst/>
                          <a:latin typeface="+mn-lt"/>
                        </a:rPr>
                        <a:t>Minimum On‑Road Price </a:t>
                      </a:r>
                      <a:endParaRPr lang="en-US" sz="1400">
                        <a:effectLst/>
                        <a:latin typeface="+mn-lt"/>
                      </a:endParaRPr>
                    </a:p>
                    <a:p>
                      <a:pPr algn="ctr" rtl="0" fontAlgn="t">
                        <a:buNone/>
                      </a:pPr>
                      <a:r>
                        <a:rPr lang="en-US" sz="1400" b="1" i="0" u="none" strike="noStrike">
                          <a:solidFill>
                            <a:srgbClr val="FFFFFF"/>
                          </a:solidFill>
                          <a:effectLst/>
                          <a:latin typeface="+mn-lt"/>
                        </a:rPr>
                        <a:t>(RM)</a:t>
                      </a:r>
                      <a:endParaRPr lang="en-US" sz="140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rtl="0" fontAlgn="t">
                        <a:buNone/>
                      </a:pPr>
                      <a:r>
                        <a:rPr lang="en-SG" sz="1400" b="1" i="0" u="none" strike="noStrike" dirty="0">
                          <a:solidFill>
                            <a:srgbClr val="FFFFFF"/>
                          </a:solidFill>
                          <a:effectLst/>
                          <a:latin typeface="+mn-lt"/>
                        </a:rPr>
                        <a:t>Registration Count</a:t>
                      </a:r>
                      <a:endParaRPr lang="en-SG" sz="1400" dirty="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882502658"/>
                  </a:ext>
                </a:extLst>
              </a:tr>
              <a:tr h="307975">
                <a:tc>
                  <a:txBody>
                    <a:bodyPr/>
                    <a:lstStyle/>
                    <a:p>
                      <a:pPr rtl="0" fontAlgn="t">
                        <a:buNone/>
                      </a:pPr>
                      <a:r>
                        <a:rPr lang="en-SG" sz="2000" b="0" i="0" u="none" strike="noStrike">
                          <a:solidFill>
                            <a:srgbClr val="000000"/>
                          </a:solidFill>
                          <a:effectLst/>
                          <a:latin typeface="+mn-lt"/>
                        </a:rPr>
                        <a:t>Atto 3</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123,800</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7860</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3456526"/>
                  </a:ext>
                </a:extLst>
              </a:tr>
              <a:tr h="307975">
                <a:tc>
                  <a:txBody>
                    <a:bodyPr/>
                    <a:lstStyle/>
                    <a:p>
                      <a:pPr rtl="0" fontAlgn="t">
                        <a:buNone/>
                      </a:pPr>
                      <a:r>
                        <a:rPr lang="en-SG" sz="2000" b="0" i="0" u="none" strike="noStrike">
                          <a:solidFill>
                            <a:srgbClr val="000000"/>
                          </a:solidFill>
                          <a:effectLst/>
                          <a:latin typeface="+mn-lt"/>
                        </a:rPr>
                        <a:t>Cooper</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193,888</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6589</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5043783"/>
                  </a:ext>
                </a:extLst>
              </a:tr>
              <a:tr h="307975">
                <a:tc>
                  <a:txBody>
                    <a:bodyPr/>
                    <a:lstStyle/>
                    <a:p>
                      <a:pPr rtl="0" fontAlgn="t">
                        <a:buNone/>
                      </a:pPr>
                      <a:r>
                        <a:rPr lang="en-SG" sz="2000" b="0" i="0" u="none" strike="noStrike">
                          <a:solidFill>
                            <a:srgbClr val="000000"/>
                          </a:solidFill>
                          <a:effectLst/>
                          <a:latin typeface="+mn-lt"/>
                        </a:rPr>
                        <a:t>Model 3</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189,000</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5527</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9832872"/>
                  </a:ext>
                </a:extLst>
              </a:tr>
              <a:tr h="307975">
                <a:tc>
                  <a:txBody>
                    <a:bodyPr/>
                    <a:lstStyle/>
                    <a:p>
                      <a:pPr rtl="0" fontAlgn="t">
                        <a:buNone/>
                      </a:pPr>
                      <a:r>
                        <a:rPr lang="en-SG" sz="2000" b="0" i="0" u="none" strike="noStrike">
                          <a:solidFill>
                            <a:srgbClr val="000000"/>
                          </a:solidFill>
                          <a:effectLst/>
                          <a:latin typeface="+mn-lt"/>
                        </a:rPr>
                        <a:t>iX</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385,430</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2711</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1095645"/>
                  </a:ext>
                </a:extLst>
              </a:tr>
              <a:tr h="307975">
                <a:tc>
                  <a:txBody>
                    <a:bodyPr/>
                    <a:lstStyle/>
                    <a:p>
                      <a:pPr rtl="0" fontAlgn="t">
                        <a:buNone/>
                      </a:pPr>
                      <a:r>
                        <a:rPr lang="en-SG" sz="2000" b="0" i="0" u="none" strike="noStrike">
                          <a:solidFill>
                            <a:srgbClr val="000000"/>
                          </a:solidFill>
                          <a:effectLst/>
                          <a:latin typeface="+mn-lt"/>
                        </a:rPr>
                        <a:t>Taycan</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575,000</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dirty="0">
                          <a:solidFill>
                            <a:srgbClr val="000000"/>
                          </a:solidFill>
                          <a:effectLst/>
                          <a:latin typeface="+mn-lt"/>
                        </a:rPr>
                        <a:t>1400</a:t>
                      </a:r>
                      <a:endParaRPr lang="en-SG" sz="2000" dirty="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8846086"/>
                  </a:ext>
                </a:extLst>
              </a:tr>
              <a:tr h="307975">
                <a:tc>
                  <a:txBody>
                    <a:bodyPr/>
                    <a:lstStyle/>
                    <a:p>
                      <a:pPr rtl="0" fontAlgn="t">
                        <a:buNone/>
                      </a:pPr>
                      <a:r>
                        <a:rPr lang="en-SG" sz="2000" b="0" i="0" u="none" strike="noStrike">
                          <a:solidFill>
                            <a:srgbClr val="000000"/>
                          </a:solidFill>
                          <a:effectLst/>
                          <a:latin typeface="+mn-lt"/>
                        </a:rPr>
                        <a:t>Leaf</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168,888</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133</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925080"/>
                  </a:ext>
                </a:extLst>
              </a:tr>
              <a:tr h="307975">
                <a:tc>
                  <a:txBody>
                    <a:bodyPr/>
                    <a:lstStyle/>
                    <a:p>
                      <a:pPr rtl="0" fontAlgn="t">
                        <a:buNone/>
                      </a:pPr>
                      <a:r>
                        <a:rPr lang="en-SG" sz="2000" b="0" i="0" u="none" strike="noStrike">
                          <a:solidFill>
                            <a:srgbClr val="000000"/>
                          </a:solidFill>
                          <a:effectLst/>
                          <a:latin typeface="+mn-lt"/>
                        </a:rPr>
                        <a:t>Model X</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238,000</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64</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0286845"/>
                  </a:ext>
                </a:extLst>
              </a:tr>
              <a:tr h="307975">
                <a:tc>
                  <a:txBody>
                    <a:bodyPr/>
                    <a:lstStyle/>
                    <a:p>
                      <a:pPr rtl="0" fontAlgn="t">
                        <a:buNone/>
                      </a:pPr>
                      <a:r>
                        <a:rPr lang="en-SG" sz="2000" b="0" i="0" u="none" strike="noStrike">
                          <a:solidFill>
                            <a:srgbClr val="000000"/>
                          </a:solidFill>
                          <a:effectLst/>
                          <a:latin typeface="+mn-lt"/>
                        </a:rPr>
                        <a:t>Zoe</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165,000</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53</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0200749"/>
                  </a:ext>
                </a:extLst>
              </a:tr>
              <a:tr h="307975">
                <a:tc>
                  <a:txBody>
                    <a:bodyPr/>
                    <a:lstStyle/>
                    <a:p>
                      <a:pPr rtl="0" fontAlgn="t">
                        <a:buNone/>
                      </a:pPr>
                      <a:r>
                        <a:rPr lang="en-SG" sz="2000" b="0" i="0" u="none" strike="noStrike">
                          <a:solidFill>
                            <a:srgbClr val="000000"/>
                          </a:solidFill>
                          <a:effectLst/>
                          <a:latin typeface="+mn-lt"/>
                        </a:rPr>
                        <a:t>Model S</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dirty="0">
                          <a:solidFill>
                            <a:srgbClr val="000000"/>
                          </a:solidFill>
                          <a:effectLst/>
                          <a:latin typeface="+mn-lt"/>
                        </a:rPr>
                        <a:t>339,000 </a:t>
                      </a:r>
                      <a:endParaRPr lang="en-SG" sz="2000" dirty="0">
                        <a:effectLst/>
                        <a:latin typeface="+mn-lt"/>
                      </a:endParaRPr>
                    </a:p>
                  </a:txBody>
                  <a:tcPr marL="63500" marR="63500" marT="63500" marB="6350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48</a:t>
                      </a:r>
                      <a:endParaRPr lang="en-SG" sz="200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6222201"/>
                  </a:ext>
                </a:extLst>
              </a:tr>
              <a:tr h="307975">
                <a:tc>
                  <a:txBody>
                    <a:bodyPr/>
                    <a:lstStyle/>
                    <a:p>
                      <a:pPr rtl="0" fontAlgn="t">
                        <a:buNone/>
                      </a:pPr>
                      <a:r>
                        <a:rPr lang="en-SG" sz="2000" b="0" i="0" u="none" strike="noStrike" dirty="0">
                          <a:solidFill>
                            <a:srgbClr val="000000"/>
                          </a:solidFill>
                          <a:effectLst/>
                          <a:latin typeface="+mn-lt"/>
                        </a:rPr>
                        <a:t>Twizy</a:t>
                      </a:r>
                      <a:endParaRPr lang="en-SG" sz="2000" dirty="0">
                        <a:effectLst/>
                        <a:latin typeface="+mn-l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a:solidFill>
                            <a:srgbClr val="000000"/>
                          </a:solidFill>
                          <a:effectLst/>
                          <a:latin typeface="+mn-lt"/>
                        </a:rPr>
                        <a:t>71,888</a:t>
                      </a:r>
                      <a:endParaRPr lang="en-SG" sz="2000">
                        <a:effectLst/>
                        <a:latin typeface="+mn-lt"/>
                      </a:endParaRPr>
                    </a:p>
                  </a:txBody>
                  <a:tcPr marL="63500" marR="63500" marT="63500" marB="6350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SG" sz="2000" b="0" i="0" u="none" strike="noStrike" dirty="0">
                          <a:solidFill>
                            <a:srgbClr val="000000"/>
                          </a:solidFill>
                          <a:effectLst/>
                          <a:latin typeface="+mn-lt"/>
                        </a:rPr>
                        <a:t>42</a:t>
                      </a:r>
                      <a:endParaRPr lang="en-SG" sz="2000" dirty="0">
                        <a:effectLst/>
                        <a:latin typeface="+mn-l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5432620"/>
                  </a:ext>
                </a:extLst>
              </a:tr>
            </a:tbl>
          </a:graphicData>
        </a:graphic>
      </p:graphicFrame>
      <p:sp>
        <p:nvSpPr>
          <p:cNvPr id="3" name="Rectangle 1">
            <a:extLst>
              <a:ext uri="{FF2B5EF4-FFF2-40B4-BE49-F238E27FC236}">
                <a16:creationId xmlns:a16="http://schemas.microsoft.com/office/drawing/2014/main" id="{065CB5A1-6422-5B84-773B-4BAC69393326}"/>
              </a:ext>
            </a:extLst>
          </p:cNvPr>
          <p:cNvSpPr>
            <a:spLocks noChangeArrowheads="1"/>
          </p:cNvSpPr>
          <p:nvPr/>
        </p:nvSpPr>
        <p:spPr bwMode="auto">
          <a:xfrm>
            <a:off x="4416425" y="2062163"/>
            <a:ext cx="2562855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SG"/>
          </a:p>
        </p:txBody>
      </p:sp>
      <p:sp>
        <p:nvSpPr>
          <p:cNvPr id="4" name="Rectangle: Rounded Corners 3">
            <a:extLst>
              <a:ext uri="{FF2B5EF4-FFF2-40B4-BE49-F238E27FC236}">
                <a16:creationId xmlns:a16="http://schemas.microsoft.com/office/drawing/2014/main" id="{19104D86-DE8F-9901-3ED3-AA11E4B3E940}"/>
              </a:ext>
            </a:extLst>
          </p:cNvPr>
          <p:cNvSpPr/>
          <p:nvPr/>
        </p:nvSpPr>
        <p:spPr>
          <a:xfrm>
            <a:off x="9143192" y="3517555"/>
            <a:ext cx="2738466" cy="16043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Weighted median price: </a:t>
            </a:r>
          </a:p>
          <a:p>
            <a:pPr algn="ctr"/>
            <a:r>
              <a:rPr lang="en-US" sz="3200" dirty="0"/>
              <a:t>RM 189,000</a:t>
            </a:r>
            <a:endParaRPr lang="en-SG" sz="3200" dirty="0"/>
          </a:p>
        </p:txBody>
      </p:sp>
    </p:spTree>
    <p:extLst>
      <p:ext uri="{BB962C8B-B14F-4D97-AF65-F5344CB8AC3E}">
        <p14:creationId xmlns:p14="http://schemas.microsoft.com/office/powerpoint/2010/main" val="3301315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FC616-14BD-D549-2278-8319F117E5D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217AE44-CBBA-397A-25EA-B080504FF41A}"/>
              </a:ext>
            </a:extLst>
          </p:cNvPr>
          <p:cNvSpPr>
            <a:spLocks noGrp="1"/>
          </p:cNvSpPr>
          <p:nvPr>
            <p:ph type="title"/>
          </p:nvPr>
        </p:nvSpPr>
        <p:spPr>
          <a:xfrm>
            <a:off x="6710510" y="2016579"/>
            <a:ext cx="4441188" cy="2775857"/>
          </a:xfrm>
        </p:spPr>
        <p:txBody>
          <a:bodyPr/>
          <a:lstStyle/>
          <a:p>
            <a:r>
              <a:rPr lang="en-US" sz="2400" dirty="0">
                <a:solidFill>
                  <a:schemeClr val="bg1">
                    <a:lumMod val="50000"/>
                  </a:schemeClr>
                </a:solidFill>
              </a:rPr>
              <a:t>Analysis</a:t>
            </a:r>
            <a:br>
              <a:rPr lang="en-US" dirty="0"/>
            </a:br>
            <a:r>
              <a:rPr lang="en-US" dirty="0">
                <a:solidFill>
                  <a:schemeClr val="tx1"/>
                </a:solidFill>
              </a:rPr>
              <a:t>Malaysian car owners’ sentiment on EV purchase decision</a:t>
            </a:r>
            <a:br>
              <a:rPr lang="en-US" dirty="0"/>
            </a:br>
            <a:endParaRPr lang="en-SG" dirty="0"/>
          </a:p>
        </p:txBody>
      </p:sp>
      <p:sp>
        <p:nvSpPr>
          <p:cNvPr id="4" name="Footer Placeholder 3">
            <a:extLst>
              <a:ext uri="{FF2B5EF4-FFF2-40B4-BE49-F238E27FC236}">
                <a16:creationId xmlns:a16="http://schemas.microsoft.com/office/drawing/2014/main" id="{17CF5CB3-1F97-FDA3-61BB-0719EA8BE392}"/>
              </a:ext>
            </a:extLst>
          </p:cNvPr>
          <p:cNvSpPr>
            <a:spLocks noGrp="1"/>
          </p:cNvSpPr>
          <p:nvPr>
            <p:ph type="ftr" sz="quarter" idx="4294967295"/>
          </p:nvPr>
        </p:nvSpPr>
        <p:spPr>
          <a:xfrm>
            <a:off x="-1" y="6218238"/>
            <a:ext cx="4855029" cy="365125"/>
          </a:xfrm>
        </p:spPr>
        <p:txBody>
          <a:bodyPr/>
          <a:lstStyle/>
          <a:p>
            <a:r>
              <a:rPr lang="en-US" altLang="zh-CN" dirty="0"/>
              <a:t>The Scale &amp; Impact of the Shift to EVs Among Malaysian Drivers</a:t>
            </a:r>
            <a:endParaRPr lang="en-US" dirty="0"/>
          </a:p>
        </p:txBody>
      </p:sp>
      <p:sp>
        <p:nvSpPr>
          <p:cNvPr id="5" name="Slide Number Placeholder 4">
            <a:extLst>
              <a:ext uri="{FF2B5EF4-FFF2-40B4-BE49-F238E27FC236}">
                <a16:creationId xmlns:a16="http://schemas.microsoft.com/office/drawing/2014/main" id="{CF6CCC61-2F0C-5BD3-48CE-8348789C67B0}"/>
              </a:ext>
            </a:extLst>
          </p:cNvPr>
          <p:cNvSpPr>
            <a:spLocks noGrp="1"/>
          </p:cNvSpPr>
          <p:nvPr>
            <p:ph type="sldNum" sz="quarter" idx="4294967295"/>
          </p:nvPr>
        </p:nvSpPr>
        <p:spPr>
          <a:xfrm>
            <a:off x="11733213" y="6218238"/>
            <a:ext cx="458787" cy="365125"/>
          </a:xfrm>
        </p:spPr>
        <p:txBody>
          <a:bodyPr/>
          <a:lstStyle/>
          <a:p>
            <a:fld id="{47FEACEE-25B4-4A2D-B147-27296E36371D}" type="slidenum">
              <a:rPr lang="en-US" altLang="zh-CN" smtClean="0"/>
              <a:pPr/>
              <a:t>16</a:t>
            </a:fld>
            <a:endParaRPr lang="en-US" altLang="zh-CN" dirty="0"/>
          </a:p>
        </p:txBody>
      </p:sp>
      <p:pic>
        <p:nvPicPr>
          <p:cNvPr id="20" name="Picture 19">
            <a:extLst>
              <a:ext uri="{FF2B5EF4-FFF2-40B4-BE49-F238E27FC236}">
                <a16:creationId xmlns:a16="http://schemas.microsoft.com/office/drawing/2014/main" id="{C98295FD-C6CB-83AB-F7D6-4FC98D27A2D9}"/>
              </a:ext>
            </a:extLst>
          </p:cNvPr>
          <p:cNvPicPr>
            <a:picLocks noChangeAspect="1"/>
          </p:cNvPicPr>
          <p:nvPr/>
        </p:nvPicPr>
        <p:blipFill>
          <a:blip r:embed="rId3"/>
          <a:stretch>
            <a:fillRect/>
          </a:stretch>
        </p:blipFill>
        <p:spPr>
          <a:xfrm>
            <a:off x="2004928" y="2374064"/>
            <a:ext cx="2109872" cy="2109872"/>
          </a:xfrm>
          <a:prstGeom prst="rect">
            <a:avLst/>
          </a:prstGeom>
        </p:spPr>
      </p:pic>
    </p:spTree>
    <p:extLst>
      <p:ext uri="{BB962C8B-B14F-4D97-AF65-F5344CB8AC3E}">
        <p14:creationId xmlns:p14="http://schemas.microsoft.com/office/powerpoint/2010/main" val="3916728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A5704-F2FA-6C77-373F-EAB49D0A7D30}"/>
              </a:ext>
            </a:extLst>
          </p:cNvPr>
          <p:cNvSpPr>
            <a:spLocks noGrp="1"/>
          </p:cNvSpPr>
          <p:nvPr>
            <p:ph type="title"/>
          </p:nvPr>
        </p:nvSpPr>
        <p:spPr/>
        <p:txBody>
          <a:bodyPr/>
          <a:lstStyle/>
          <a:p>
            <a:r>
              <a:rPr lang="en-US" sz="2800" dirty="0"/>
              <a:t>Reddit thread 1: “Are EV cars practical in Malaysia?” (128 comments)</a:t>
            </a:r>
            <a:endParaRPr lang="en-SG" dirty="0"/>
          </a:p>
        </p:txBody>
      </p:sp>
      <p:sp>
        <p:nvSpPr>
          <p:cNvPr id="5" name="Slide Number Placeholder 4">
            <a:extLst>
              <a:ext uri="{FF2B5EF4-FFF2-40B4-BE49-F238E27FC236}">
                <a16:creationId xmlns:a16="http://schemas.microsoft.com/office/drawing/2014/main" id="{EEE099CC-CA88-B27C-AA1B-2D368E41721B}"/>
              </a:ext>
            </a:extLst>
          </p:cNvPr>
          <p:cNvSpPr>
            <a:spLocks noGrp="1"/>
          </p:cNvSpPr>
          <p:nvPr>
            <p:ph type="sldNum" sz="quarter" idx="29"/>
          </p:nvPr>
        </p:nvSpPr>
        <p:spPr/>
        <p:txBody>
          <a:bodyPr/>
          <a:lstStyle/>
          <a:p>
            <a:fld id="{47FEACEE-25B4-4A2D-B147-27296E36371D}" type="slidenum">
              <a:rPr lang="en-US" altLang="zh-CN" smtClean="0"/>
              <a:pPr/>
              <a:t>17</a:t>
            </a:fld>
            <a:endParaRPr lang="en-US" altLang="zh-CN" dirty="0"/>
          </a:p>
        </p:txBody>
      </p:sp>
      <p:pic>
        <p:nvPicPr>
          <p:cNvPr id="4098" name="Picture 2">
            <a:extLst>
              <a:ext uri="{FF2B5EF4-FFF2-40B4-BE49-F238E27FC236}">
                <a16:creationId xmlns:a16="http://schemas.microsoft.com/office/drawing/2014/main" id="{15D531D9-9EE0-A702-5888-7BCDC79725D6}"/>
              </a:ext>
            </a:extLst>
          </p:cNvPr>
          <p:cNvPicPr>
            <a:picLocks noGrp="1" noChangeAspect="1" noChangeArrowheads="1"/>
          </p:cNvPicPr>
          <p:nvPr>
            <p:ph type="chart" sz="quarter" idx="27"/>
          </p:nvPr>
        </p:nvPicPr>
        <p:blipFill>
          <a:blip r:embed="rId3">
            <a:extLst>
              <a:ext uri="{28A0092B-C50C-407E-A947-70E740481C1C}">
                <a14:useLocalDpi xmlns:a14="http://schemas.microsoft.com/office/drawing/2010/main" val="0"/>
              </a:ext>
            </a:extLst>
          </a:blip>
          <a:srcRect/>
          <a:stretch>
            <a:fillRect/>
          </a:stretch>
        </p:blipFill>
        <p:spPr bwMode="auto">
          <a:xfrm>
            <a:off x="1943639" y="1622425"/>
            <a:ext cx="8177721" cy="415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9051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73122-F31B-542C-C409-9E7209C33095}"/>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2BB7B93-D093-2CF2-F6B9-36773164DE6C}"/>
              </a:ext>
            </a:extLst>
          </p:cNvPr>
          <p:cNvSpPr>
            <a:spLocks noGrp="1"/>
          </p:cNvSpPr>
          <p:nvPr>
            <p:ph type="title"/>
          </p:nvPr>
        </p:nvSpPr>
        <p:spPr/>
        <p:txBody>
          <a:bodyPr/>
          <a:lstStyle/>
          <a:p>
            <a:r>
              <a:rPr lang="en-US" sz="2800" dirty="0"/>
              <a:t>Reddit thread 2: “EV owners, what are your thoughts after using them after few years?” (21 comments)</a:t>
            </a:r>
            <a:endParaRPr lang="en-SG" sz="2800" dirty="0"/>
          </a:p>
        </p:txBody>
      </p:sp>
      <p:sp>
        <p:nvSpPr>
          <p:cNvPr id="12" name="Slide Number Placeholder 11">
            <a:extLst>
              <a:ext uri="{FF2B5EF4-FFF2-40B4-BE49-F238E27FC236}">
                <a16:creationId xmlns:a16="http://schemas.microsoft.com/office/drawing/2014/main" id="{D05318D2-3DA3-1535-5BD7-4F57375D43A6}"/>
              </a:ext>
            </a:extLst>
          </p:cNvPr>
          <p:cNvSpPr>
            <a:spLocks noGrp="1"/>
          </p:cNvSpPr>
          <p:nvPr>
            <p:ph type="sldNum" sz="quarter" idx="29"/>
          </p:nvPr>
        </p:nvSpPr>
        <p:spPr/>
        <p:txBody>
          <a:bodyPr/>
          <a:lstStyle/>
          <a:p>
            <a:fld id="{47FEACEE-25B4-4A2D-B147-27296E36371D}" type="slidenum">
              <a:rPr lang="en-US" altLang="zh-CN" smtClean="0"/>
              <a:pPr/>
              <a:t>18</a:t>
            </a:fld>
            <a:endParaRPr lang="en-US" altLang="zh-CN" dirty="0"/>
          </a:p>
        </p:txBody>
      </p:sp>
      <p:pic>
        <p:nvPicPr>
          <p:cNvPr id="5124" name="Picture 4">
            <a:extLst>
              <a:ext uri="{FF2B5EF4-FFF2-40B4-BE49-F238E27FC236}">
                <a16:creationId xmlns:a16="http://schemas.microsoft.com/office/drawing/2014/main" id="{DB1269A3-E19E-5E76-454F-762A46F655A8}"/>
              </a:ext>
            </a:extLst>
          </p:cNvPr>
          <p:cNvPicPr>
            <a:picLocks noGrp="1" noChangeAspect="1" noChangeArrowheads="1"/>
          </p:cNvPicPr>
          <p:nvPr>
            <p:ph type="chart" sz="quarter" idx="27"/>
          </p:nvPr>
        </p:nvPicPr>
        <p:blipFill>
          <a:blip r:embed="rId3">
            <a:extLst>
              <a:ext uri="{28A0092B-C50C-407E-A947-70E740481C1C}">
                <a14:useLocalDpi xmlns:a14="http://schemas.microsoft.com/office/drawing/2010/main" val="0"/>
              </a:ext>
            </a:extLst>
          </a:blip>
          <a:srcRect/>
          <a:stretch>
            <a:fillRect/>
          </a:stretch>
        </p:blipFill>
        <p:spPr bwMode="auto">
          <a:xfrm>
            <a:off x="2083735" y="1622425"/>
            <a:ext cx="7897529" cy="415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3202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3C5D800-3EB8-F092-9DC3-C645C9666728}"/>
              </a:ext>
            </a:extLst>
          </p:cNvPr>
          <p:cNvSpPr>
            <a:spLocks noGrp="1"/>
          </p:cNvSpPr>
          <p:nvPr>
            <p:ph type="title"/>
          </p:nvPr>
        </p:nvSpPr>
        <p:spPr/>
        <p:txBody>
          <a:bodyPr/>
          <a:lstStyle/>
          <a:p>
            <a:r>
              <a:rPr lang="en-US" sz="2800" dirty="0"/>
              <a:t>Reddit thread 3: “How long more will ICE cars stay relevant in Malaysia?” (59 comments)</a:t>
            </a:r>
            <a:endParaRPr lang="en-SG" sz="2800" dirty="0"/>
          </a:p>
        </p:txBody>
      </p:sp>
      <p:sp>
        <p:nvSpPr>
          <p:cNvPr id="5" name="Slide Number Placeholder 4">
            <a:extLst>
              <a:ext uri="{FF2B5EF4-FFF2-40B4-BE49-F238E27FC236}">
                <a16:creationId xmlns:a16="http://schemas.microsoft.com/office/drawing/2014/main" id="{1AE67E44-4357-B5E2-91FC-42E36BAC5B04}"/>
              </a:ext>
            </a:extLst>
          </p:cNvPr>
          <p:cNvSpPr>
            <a:spLocks noGrp="1"/>
          </p:cNvSpPr>
          <p:nvPr>
            <p:ph type="sldNum" sz="quarter" idx="29"/>
          </p:nvPr>
        </p:nvSpPr>
        <p:spPr/>
        <p:txBody>
          <a:bodyPr/>
          <a:lstStyle/>
          <a:p>
            <a:fld id="{47FEACEE-25B4-4A2D-B147-27296E36371D}" type="slidenum">
              <a:rPr lang="en-US" altLang="zh-CN" smtClean="0"/>
              <a:pPr/>
              <a:t>19</a:t>
            </a:fld>
            <a:endParaRPr lang="en-US" altLang="zh-CN" dirty="0"/>
          </a:p>
        </p:txBody>
      </p:sp>
      <p:pic>
        <p:nvPicPr>
          <p:cNvPr id="6146" name="Picture 2">
            <a:extLst>
              <a:ext uri="{FF2B5EF4-FFF2-40B4-BE49-F238E27FC236}">
                <a16:creationId xmlns:a16="http://schemas.microsoft.com/office/drawing/2014/main" id="{5A88BF75-BE0B-DA13-570F-49269F4A918B}"/>
              </a:ext>
            </a:extLst>
          </p:cNvPr>
          <p:cNvPicPr>
            <a:picLocks noGrp="1" noChangeAspect="1" noChangeArrowheads="1"/>
          </p:cNvPicPr>
          <p:nvPr>
            <p:ph type="chart" sz="quarter" idx="27"/>
          </p:nvPr>
        </p:nvPicPr>
        <p:blipFill>
          <a:blip r:embed="rId3">
            <a:extLst>
              <a:ext uri="{28A0092B-C50C-407E-A947-70E740481C1C}">
                <a14:useLocalDpi xmlns:a14="http://schemas.microsoft.com/office/drawing/2010/main" val="0"/>
              </a:ext>
            </a:extLst>
          </a:blip>
          <a:srcRect/>
          <a:stretch>
            <a:fillRect/>
          </a:stretch>
        </p:blipFill>
        <p:spPr bwMode="auto">
          <a:xfrm>
            <a:off x="2083735" y="1622425"/>
            <a:ext cx="7897529" cy="415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5764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B9F84-4CB4-D6A1-5B88-2B9562B4D567}"/>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73FCE46-221A-6AC9-C19B-AEBAC37ADA50}"/>
              </a:ext>
            </a:extLst>
          </p:cNvPr>
          <p:cNvSpPr>
            <a:spLocks noGrp="1"/>
          </p:cNvSpPr>
          <p:nvPr>
            <p:ph type="title"/>
          </p:nvPr>
        </p:nvSpPr>
        <p:spPr/>
        <p:txBody>
          <a:bodyPr/>
          <a:lstStyle/>
          <a:p>
            <a:r>
              <a:rPr lang="en-US" sz="2800" dirty="0"/>
              <a:t>Reddit thread 4: “EV worth it?” (36 comments)</a:t>
            </a:r>
          </a:p>
        </p:txBody>
      </p:sp>
      <p:sp>
        <p:nvSpPr>
          <p:cNvPr id="5" name="Slide Number Placeholder 4">
            <a:extLst>
              <a:ext uri="{FF2B5EF4-FFF2-40B4-BE49-F238E27FC236}">
                <a16:creationId xmlns:a16="http://schemas.microsoft.com/office/drawing/2014/main" id="{53B88D5E-75EE-A1B4-9899-DC1F1FEC3CDD}"/>
              </a:ext>
            </a:extLst>
          </p:cNvPr>
          <p:cNvSpPr>
            <a:spLocks noGrp="1"/>
          </p:cNvSpPr>
          <p:nvPr>
            <p:ph type="sldNum" sz="quarter" idx="29"/>
          </p:nvPr>
        </p:nvSpPr>
        <p:spPr/>
        <p:txBody>
          <a:bodyPr/>
          <a:lstStyle/>
          <a:p>
            <a:fld id="{47FEACEE-25B4-4A2D-B147-27296E36371D}" type="slidenum">
              <a:rPr lang="en-US" altLang="zh-CN" smtClean="0"/>
              <a:pPr/>
              <a:t>20</a:t>
            </a:fld>
            <a:endParaRPr lang="en-US" altLang="zh-CN" dirty="0"/>
          </a:p>
        </p:txBody>
      </p:sp>
      <p:pic>
        <p:nvPicPr>
          <p:cNvPr id="7170" name="Picture 2">
            <a:extLst>
              <a:ext uri="{FF2B5EF4-FFF2-40B4-BE49-F238E27FC236}">
                <a16:creationId xmlns:a16="http://schemas.microsoft.com/office/drawing/2014/main" id="{169F9979-A0DE-1F60-59C0-BA01571390D3}"/>
              </a:ext>
            </a:extLst>
          </p:cNvPr>
          <p:cNvPicPr>
            <a:picLocks noGrp="1" noChangeAspect="1" noChangeArrowheads="1"/>
          </p:cNvPicPr>
          <p:nvPr>
            <p:ph type="chart" sz="quarter" idx="27"/>
          </p:nvPr>
        </p:nvPicPr>
        <p:blipFill>
          <a:blip r:embed="rId3">
            <a:extLst>
              <a:ext uri="{28A0092B-C50C-407E-A947-70E740481C1C}">
                <a14:useLocalDpi xmlns:a14="http://schemas.microsoft.com/office/drawing/2010/main" val="0"/>
              </a:ext>
            </a:extLst>
          </a:blip>
          <a:srcRect/>
          <a:stretch>
            <a:fillRect/>
          </a:stretch>
        </p:blipFill>
        <p:spPr bwMode="auto">
          <a:xfrm>
            <a:off x="2083735" y="1622425"/>
            <a:ext cx="7897529" cy="415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048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EDF4F-8C2E-65C1-8928-9485FA0825B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EF9F02D-2317-0210-F9A6-DEF59BD2BE06}"/>
              </a:ext>
            </a:extLst>
          </p:cNvPr>
          <p:cNvSpPr>
            <a:spLocks noGrp="1"/>
          </p:cNvSpPr>
          <p:nvPr>
            <p:ph type="ftr" sz="quarter" idx="4294967295"/>
          </p:nvPr>
        </p:nvSpPr>
        <p:spPr>
          <a:xfrm>
            <a:off x="-1" y="6218238"/>
            <a:ext cx="4985657" cy="365125"/>
          </a:xfrm>
        </p:spPr>
        <p:txBody>
          <a:bodyPr/>
          <a:lstStyle/>
          <a:p>
            <a:r>
              <a:rPr lang="en-US" altLang="zh-CN" dirty="0"/>
              <a:t>The Scale &amp; Impact of the Shift to EVs Among Malaysian Drivers</a:t>
            </a:r>
            <a:endParaRPr lang="en-US" dirty="0"/>
          </a:p>
        </p:txBody>
      </p:sp>
      <p:sp>
        <p:nvSpPr>
          <p:cNvPr id="5" name="Slide Number Placeholder 4">
            <a:extLst>
              <a:ext uri="{FF2B5EF4-FFF2-40B4-BE49-F238E27FC236}">
                <a16:creationId xmlns:a16="http://schemas.microsoft.com/office/drawing/2014/main" id="{004DD6F5-CBB0-2E19-6ED9-C5367E59972B}"/>
              </a:ext>
            </a:extLst>
          </p:cNvPr>
          <p:cNvSpPr>
            <a:spLocks noGrp="1"/>
          </p:cNvSpPr>
          <p:nvPr>
            <p:ph type="sldNum" sz="quarter" idx="4294967295"/>
          </p:nvPr>
        </p:nvSpPr>
        <p:spPr>
          <a:xfrm>
            <a:off x="11733213" y="6218238"/>
            <a:ext cx="458787" cy="365125"/>
          </a:xfrm>
        </p:spPr>
        <p:txBody>
          <a:bodyPr/>
          <a:lstStyle/>
          <a:p>
            <a:fld id="{47FEACEE-25B4-4A2D-B147-27296E36371D}" type="slidenum">
              <a:rPr lang="en-US" altLang="zh-CN" smtClean="0"/>
              <a:pPr/>
              <a:t>21</a:t>
            </a:fld>
            <a:endParaRPr lang="en-US" altLang="zh-CN" dirty="0"/>
          </a:p>
        </p:txBody>
      </p:sp>
      <p:pic>
        <p:nvPicPr>
          <p:cNvPr id="20" name="Picture 19">
            <a:extLst>
              <a:ext uri="{FF2B5EF4-FFF2-40B4-BE49-F238E27FC236}">
                <a16:creationId xmlns:a16="http://schemas.microsoft.com/office/drawing/2014/main" id="{C5F383A9-2D92-B490-5839-FA59E7A857CB}"/>
              </a:ext>
            </a:extLst>
          </p:cNvPr>
          <p:cNvPicPr>
            <a:picLocks noChangeAspect="1"/>
          </p:cNvPicPr>
          <p:nvPr/>
        </p:nvPicPr>
        <p:blipFill>
          <a:blip r:embed="rId2"/>
          <a:stretch>
            <a:fillRect/>
          </a:stretch>
        </p:blipFill>
        <p:spPr>
          <a:xfrm>
            <a:off x="2004928" y="2374064"/>
            <a:ext cx="2109872" cy="2109872"/>
          </a:xfrm>
          <a:prstGeom prst="rect">
            <a:avLst/>
          </a:prstGeom>
        </p:spPr>
      </p:pic>
      <p:sp>
        <p:nvSpPr>
          <p:cNvPr id="24" name="Title 5">
            <a:extLst>
              <a:ext uri="{FF2B5EF4-FFF2-40B4-BE49-F238E27FC236}">
                <a16:creationId xmlns:a16="http://schemas.microsoft.com/office/drawing/2014/main" id="{B3061019-5595-DCDC-D4CD-2133BA7D0DE0}"/>
              </a:ext>
            </a:extLst>
          </p:cNvPr>
          <p:cNvSpPr>
            <a:spLocks noGrp="1"/>
          </p:cNvSpPr>
          <p:nvPr>
            <p:ph type="title"/>
          </p:nvPr>
        </p:nvSpPr>
        <p:spPr>
          <a:xfrm>
            <a:off x="6710363" y="2016125"/>
            <a:ext cx="4441825" cy="2776538"/>
          </a:xfrm>
        </p:spPr>
        <p:txBody>
          <a:bodyPr/>
          <a:lstStyle/>
          <a:p>
            <a:r>
              <a:rPr lang="en-US" sz="2400" dirty="0">
                <a:solidFill>
                  <a:schemeClr val="bg1">
                    <a:lumMod val="50000"/>
                  </a:schemeClr>
                </a:solidFill>
              </a:rPr>
              <a:t>Discussion</a:t>
            </a:r>
            <a:br>
              <a:rPr lang="en-US" dirty="0"/>
            </a:br>
            <a:r>
              <a:rPr lang="en-SG" dirty="0">
                <a:solidFill>
                  <a:schemeClr val="tx1"/>
                </a:solidFill>
              </a:rPr>
              <a:t>What do the numbers tell us?</a:t>
            </a:r>
            <a:br>
              <a:rPr lang="en-US" dirty="0"/>
            </a:br>
            <a:endParaRPr lang="en-SG" dirty="0"/>
          </a:p>
        </p:txBody>
      </p:sp>
    </p:spTree>
    <p:extLst>
      <p:ext uri="{BB962C8B-B14F-4D97-AF65-F5344CB8AC3E}">
        <p14:creationId xmlns:p14="http://schemas.microsoft.com/office/powerpoint/2010/main" val="1663016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5288398-5BE0-B1A0-947B-BF8ABB69C06F}"/>
              </a:ext>
            </a:extLst>
          </p:cNvPr>
          <p:cNvSpPr>
            <a:spLocks noGrp="1"/>
          </p:cNvSpPr>
          <p:nvPr>
            <p:ph type="title"/>
          </p:nvPr>
        </p:nvSpPr>
        <p:spPr/>
        <p:txBody>
          <a:bodyPr/>
          <a:lstStyle/>
          <a:p>
            <a:r>
              <a:rPr lang="en-SG" dirty="0"/>
              <a:t>EV Adoption Trends</a:t>
            </a:r>
          </a:p>
        </p:txBody>
      </p:sp>
      <p:sp>
        <p:nvSpPr>
          <p:cNvPr id="10" name="TextBox 9">
            <a:extLst>
              <a:ext uri="{FF2B5EF4-FFF2-40B4-BE49-F238E27FC236}">
                <a16:creationId xmlns:a16="http://schemas.microsoft.com/office/drawing/2014/main" id="{8CE15A94-F15B-C533-EC23-6C3FD696CA79}"/>
              </a:ext>
            </a:extLst>
          </p:cNvPr>
          <p:cNvSpPr txBox="1"/>
          <p:nvPr/>
        </p:nvSpPr>
        <p:spPr>
          <a:xfrm>
            <a:off x="587829" y="1622510"/>
            <a:ext cx="11016342" cy="2249975"/>
          </a:xfrm>
          <a:prstGeom prst="rect">
            <a:avLst/>
          </a:prstGeom>
        </p:spPr>
        <p:txBody>
          <a:bodyPr wrap="square" rtlCol="0">
            <a:spAutoFit/>
          </a:bodyPr>
          <a:lstStyle/>
          <a:p>
            <a:pPr marL="285750" indent="-285750">
              <a:lnSpc>
                <a:spcPct val="150000"/>
              </a:lnSpc>
              <a:spcBef>
                <a:spcPts val="0"/>
              </a:spcBef>
              <a:buFont typeface="Arial" panose="020B0604020202020204" pitchFamily="34" charset="0"/>
              <a:buChar char="•"/>
            </a:pPr>
            <a:r>
              <a:rPr lang="en-US" sz="3600" dirty="0">
                <a:ea typeface="微软雅黑"/>
                <a:cs typeface="Posterama" panose="020B0504020200020000" pitchFamily="34" charset="0"/>
              </a:rPr>
              <a:t>Growing presence </a:t>
            </a:r>
          </a:p>
          <a:p>
            <a:pPr marL="285750" indent="-285750">
              <a:lnSpc>
                <a:spcPct val="150000"/>
              </a:lnSpc>
              <a:spcBef>
                <a:spcPts val="0"/>
              </a:spcBef>
              <a:buFont typeface="Arial" panose="020B0604020202020204" pitchFamily="34" charset="0"/>
              <a:buChar char="•"/>
            </a:pPr>
            <a:r>
              <a:rPr lang="en-US" sz="3600" u="sng" dirty="0"/>
              <a:t>SUV</a:t>
            </a:r>
            <a:r>
              <a:rPr lang="en-US" sz="3600" dirty="0"/>
              <a:t> the most preferred vehicle category</a:t>
            </a:r>
          </a:p>
          <a:p>
            <a:pPr marL="742950" lvl="1" indent="-285750">
              <a:lnSpc>
                <a:spcPct val="150000"/>
              </a:lnSpc>
              <a:buFont typeface="Arial" panose="020B0604020202020204" pitchFamily="34" charset="0"/>
              <a:buChar char="•"/>
            </a:pPr>
            <a:r>
              <a:rPr lang="en-US" sz="2400" dirty="0">
                <a:ea typeface="微软雅黑"/>
                <a:cs typeface="Posterama" panose="020B0504020200020000" pitchFamily="34" charset="0"/>
              </a:rPr>
              <a:t>L</a:t>
            </a:r>
            <a:r>
              <a:rPr lang="en-US" sz="2400" dirty="0"/>
              <a:t>arger body frames, enabling the integration of higher-capacity batteries</a:t>
            </a:r>
            <a:endParaRPr lang="en-SG" sz="2400" dirty="0">
              <a:ea typeface="微软雅黑"/>
              <a:cs typeface="Posterama" panose="020B0504020200020000" pitchFamily="34" charset="0"/>
            </a:endParaRPr>
          </a:p>
        </p:txBody>
      </p:sp>
    </p:spTree>
    <p:extLst>
      <p:ext uri="{BB962C8B-B14F-4D97-AF65-F5344CB8AC3E}">
        <p14:creationId xmlns:p14="http://schemas.microsoft.com/office/powerpoint/2010/main" val="3932935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3DE0D-17E9-3982-8AD9-D835309B9D0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96F5607-E256-C947-3887-8A6DF50706B9}"/>
              </a:ext>
            </a:extLst>
          </p:cNvPr>
          <p:cNvSpPr>
            <a:spLocks noGrp="1"/>
          </p:cNvSpPr>
          <p:nvPr>
            <p:ph type="title"/>
          </p:nvPr>
        </p:nvSpPr>
        <p:spPr/>
        <p:txBody>
          <a:bodyPr/>
          <a:lstStyle/>
          <a:p>
            <a:r>
              <a:rPr lang="en-SG" dirty="0"/>
              <a:t>Market Share Analysis</a:t>
            </a:r>
          </a:p>
        </p:txBody>
      </p:sp>
      <p:sp>
        <p:nvSpPr>
          <p:cNvPr id="10" name="TextBox 9">
            <a:extLst>
              <a:ext uri="{FF2B5EF4-FFF2-40B4-BE49-F238E27FC236}">
                <a16:creationId xmlns:a16="http://schemas.microsoft.com/office/drawing/2014/main" id="{EF1F741E-0A1C-5894-67AE-5E057ECC621B}"/>
              </a:ext>
            </a:extLst>
          </p:cNvPr>
          <p:cNvSpPr txBox="1"/>
          <p:nvPr/>
        </p:nvSpPr>
        <p:spPr>
          <a:xfrm>
            <a:off x="587829" y="1622510"/>
            <a:ext cx="11016342" cy="2220801"/>
          </a:xfrm>
          <a:prstGeom prst="rect">
            <a:avLst/>
          </a:prstGeom>
        </p:spPr>
        <p:txBody>
          <a:bodyPr wrap="square" rtlCol="0">
            <a:spAutoFit/>
          </a:bodyPr>
          <a:lstStyle/>
          <a:p>
            <a:pPr marL="571500" indent="-571500">
              <a:lnSpc>
                <a:spcPct val="150000"/>
              </a:lnSpc>
              <a:buFont typeface="Arial" panose="020B0604020202020204" pitchFamily="34" charset="0"/>
              <a:buChar char="•"/>
            </a:pPr>
            <a:r>
              <a:rPr lang="en-SG" sz="3600" u="sng" dirty="0"/>
              <a:t>Chinese EV brands</a:t>
            </a:r>
            <a:r>
              <a:rPr lang="en-SG" sz="3600" dirty="0"/>
              <a:t> taking the leadership</a:t>
            </a:r>
          </a:p>
          <a:p>
            <a:pPr marL="1028700" lvl="1" indent="-571500">
              <a:lnSpc>
                <a:spcPct val="150000"/>
              </a:lnSpc>
              <a:buFont typeface="Arial" panose="020B0604020202020204" pitchFamily="34" charset="0"/>
              <a:buChar char="•"/>
            </a:pPr>
            <a:r>
              <a:rPr lang="en-SG" sz="2400" dirty="0">
                <a:ea typeface="微软雅黑"/>
                <a:cs typeface="Posterama" panose="020B0504020200020000" pitchFamily="34" charset="0"/>
              </a:rPr>
              <a:t>Launch of BYD Atto 3 (Dec 2022)</a:t>
            </a:r>
          </a:p>
          <a:p>
            <a:pPr marL="571500" indent="-571500">
              <a:lnSpc>
                <a:spcPct val="150000"/>
              </a:lnSpc>
              <a:buFont typeface="Arial" panose="020B0604020202020204" pitchFamily="34" charset="0"/>
              <a:buChar char="•"/>
            </a:pPr>
            <a:r>
              <a:rPr lang="en-SG" sz="3600" dirty="0"/>
              <a:t>Value-for-money proposition</a:t>
            </a:r>
            <a:endParaRPr lang="en-SG" sz="3600" dirty="0">
              <a:ea typeface="微软雅黑"/>
              <a:cs typeface="Posterama" panose="020B0504020200020000" pitchFamily="34" charset="0"/>
            </a:endParaRPr>
          </a:p>
        </p:txBody>
      </p:sp>
    </p:spTree>
    <p:extLst>
      <p:ext uri="{BB962C8B-B14F-4D97-AF65-F5344CB8AC3E}">
        <p14:creationId xmlns:p14="http://schemas.microsoft.com/office/powerpoint/2010/main" val="2002671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B6695-8D67-910D-438F-E8C588F3A7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78D79B6-940A-CE3A-3FF7-88CFB0F9B22E}"/>
              </a:ext>
            </a:extLst>
          </p:cNvPr>
          <p:cNvSpPr>
            <a:spLocks noGrp="1"/>
          </p:cNvSpPr>
          <p:nvPr>
            <p:ph type="title"/>
          </p:nvPr>
        </p:nvSpPr>
        <p:spPr/>
        <p:txBody>
          <a:bodyPr/>
          <a:lstStyle/>
          <a:p>
            <a:r>
              <a:rPr lang="en-SG" dirty="0"/>
              <a:t>Consumer Sentiment Toward EVs</a:t>
            </a:r>
          </a:p>
        </p:txBody>
      </p:sp>
      <p:sp>
        <p:nvSpPr>
          <p:cNvPr id="10" name="TextBox 9">
            <a:extLst>
              <a:ext uri="{FF2B5EF4-FFF2-40B4-BE49-F238E27FC236}">
                <a16:creationId xmlns:a16="http://schemas.microsoft.com/office/drawing/2014/main" id="{4F68B5D0-3C02-D939-6BEC-A41138984AD6}"/>
              </a:ext>
            </a:extLst>
          </p:cNvPr>
          <p:cNvSpPr txBox="1"/>
          <p:nvPr/>
        </p:nvSpPr>
        <p:spPr>
          <a:xfrm>
            <a:off x="587829" y="1622510"/>
            <a:ext cx="11016342" cy="5573962"/>
          </a:xfrm>
          <a:prstGeom prst="rect">
            <a:avLst/>
          </a:prstGeom>
        </p:spPr>
        <p:txBody>
          <a:bodyPr wrap="square" rtlCol="0">
            <a:spAutoFit/>
          </a:bodyPr>
          <a:lstStyle/>
          <a:p>
            <a:pPr marL="571500" indent="-571500">
              <a:buFont typeface="Arial" panose="020B0604020202020204" pitchFamily="34" charset="0"/>
              <a:buChar char="•"/>
            </a:pPr>
            <a:r>
              <a:rPr lang="en-US" sz="3600" dirty="0"/>
              <a:t>High frequency keywords in related Reddit threads: “Charger,” “charging,” “station,” and “infrastructure”</a:t>
            </a:r>
          </a:p>
          <a:p>
            <a:pPr marL="1028700" lvl="1" indent="-571500">
              <a:lnSpc>
                <a:spcPct val="150000"/>
              </a:lnSpc>
              <a:buFont typeface="Arial" panose="020B0604020202020204" pitchFamily="34" charset="0"/>
              <a:buChar char="•"/>
            </a:pPr>
            <a:r>
              <a:rPr lang="en-SG" sz="2400" dirty="0"/>
              <a:t>Consideration: charging availability, charging time</a:t>
            </a:r>
          </a:p>
          <a:p>
            <a:pPr marL="571500" indent="-571500">
              <a:lnSpc>
                <a:spcPct val="150000"/>
              </a:lnSpc>
              <a:buFont typeface="Arial" panose="020B0604020202020204" pitchFamily="34" charset="0"/>
              <a:buChar char="•"/>
            </a:pPr>
            <a:r>
              <a:rPr lang="en-US" sz="3600" dirty="0"/>
              <a:t>Low resale value of EVs</a:t>
            </a:r>
          </a:p>
          <a:p>
            <a:pPr marL="1028700" lvl="1" indent="-571500">
              <a:lnSpc>
                <a:spcPct val="150000"/>
              </a:lnSpc>
              <a:buFont typeface="Arial" panose="020B0604020202020204" pitchFamily="34" charset="0"/>
              <a:buChar char="•"/>
            </a:pPr>
            <a:r>
              <a:rPr lang="en-US" sz="2400" dirty="0"/>
              <a:t>Uncertainty over battery lifespan </a:t>
            </a:r>
          </a:p>
          <a:p>
            <a:pPr marL="1028700" lvl="1" indent="-571500">
              <a:lnSpc>
                <a:spcPct val="150000"/>
              </a:lnSpc>
              <a:buFont typeface="Arial" panose="020B0604020202020204" pitchFamily="34" charset="0"/>
              <a:buChar char="•"/>
            </a:pPr>
            <a:r>
              <a:rPr lang="en-US" sz="2400" dirty="0"/>
              <a:t>Potential replacement costs</a:t>
            </a:r>
          </a:p>
          <a:p>
            <a:pPr marL="1028700" lvl="1" indent="-571500">
              <a:lnSpc>
                <a:spcPct val="150000"/>
              </a:lnSpc>
              <a:buFont typeface="Arial" panose="020B0604020202020204" pitchFamily="34" charset="0"/>
              <a:buChar char="•"/>
            </a:pPr>
            <a:r>
              <a:rPr lang="en-US" sz="2400" dirty="0"/>
              <a:t>Swift improvements in EV technology</a:t>
            </a:r>
          </a:p>
          <a:p>
            <a:pPr marL="571500" indent="-571500">
              <a:lnSpc>
                <a:spcPct val="150000"/>
              </a:lnSpc>
              <a:buFont typeface="Arial" panose="020B0604020202020204" pitchFamily="34" charset="0"/>
              <a:buChar char="•"/>
            </a:pPr>
            <a:r>
              <a:rPr lang="en-SG" sz="3600" dirty="0"/>
              <a:t>Low petrol prices</a:t>
            </a:r>
            <a:endParaRPr lang="en-SG" sz="3600" dirty="0">
              <a:ea typeface="微软雅黑"/>
              <a:cs typeface="Posterama" panose="020B0504020200020000" pitchFamily="34" charset="0"/>
            </a:endParaRPr>
          </a:p>
          <a:p>
            <a:pPr marL="571500" indent="-571500">
              <a:lnSpc>
                <a:spcPct val="150000"/>
              </a:lnSpc>
              <a:buFont typeface="Arial" panose="020B0604020202020204" pitchFamily="34" charset="0"/>
              <a:buChar char="•"/>
            </a:pPr>
            <a:endParaRPr lang="en-SG" sz="2400" dirty="0">
              <a:ea typeface="微软雅黑"/>
              <a:cs typeface="Posterama" panose="020B0504020200020000" pitchFamily="34" charset="0"/>
            </a:endParaRPr>
          </a:p>
        </p:txBody>
      </p:sp>
    </p:spTree>
    <p:extLst>
      <p:ext uri="{BB962C8B-B14F-4D97-AF65-F5344CB8AC3E}">
        <p14:creationId xmlns:p14="http://schemas.microsoft.com/office/powerpoint/2010/main" val="1357759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5BE0F-074F-BEE4-69F2-2A2A7BB12C0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B986C26-D4E7-1591-9C6C-4D9039A17946}"/>
              </a:ext>
            </a:extLst>
          </p:cNvPr>
          <p:cNvSpPr>
            <a:spLocks noGrp="1"/>
          </p:cNvSpPr>
          <p:nvPr>
            <p:ph type="title"/>
          </p:nvPr>
        </p:nvSpPr>
        <p:spPr/>
        <p:txBody>
          <a:bodyPr/>
          <a:lstStyle/>
          <a:p>
            <a:r>
              <a:rPr lang="en-US" dirty="0"/>
              <a:t>Strategic Distribution Partnership as a Key Ingredient to Chinese EV Brands’ Success </a:t>
            </a:r>
            <a:endParaRPr lang="en-SG" dirty="0"/>
          </a:p>
        </p:txBody>
      </p:sp>
      <p:sp>
        <p:nvSpPr>
          <p:cNvPr id="10" name="TextBox 9">
            <a:extLst>
              <a:ext uri="{FF2B5EF4-FFF2-40B4-BE49-F238E27FC236}">
                <a16:creationId xmlns:a16="http://schemas.microsoft.com/office/drawing/2014/main" id="{997986BE-2C98-5ABF-3F04-C82B0772D15D}"/>
              </a:ext>
            </a:extLst>
          </p:cNvPr>
          <p:cNvSpPr txBox="1"/>
          <p:nvPr/>
        </p:nvSpPr>
        <p:spPr>
          <a:xfrm>
            <a:off x="587829" y="1622510"/>
            <a:ext cx="11016342" cy="2031325"/>
          </a:xfrm>
          <a:prstGeom prst="rect">
            <a:avLst/>
          </a:prstGeom>
        </p:spPr>
        <p:txBody>
          <a:bodyPr wrap="square" rtlCol="0">
            <a:spAutoFit/>
          </a:bodyPr>
          <a:lstStyle/>
          <a:p>
            <a:pPr marL="571500" indent="-571500">
              <a:lnSpc>
                <a:spcPct val="150000"/>
              </a:lnSpc>
              <a:buFont typeface="Arial" panose="020B0604020202020204" pitchFamily="34" charset="0"/>
              <a:buChar char="•"/>
            </a:pPr>
            <a:r>
              <a:rPr lang="en-US" sz="3600" dirty="0">
                <a:ea typeface="微软雅黑"/>
                <a:cs typeface="Posterama" panose="020B0504020200020000" pitchFamily="34" charset="0"/>
              </a:rPr>
              <a:t>BYD: Partnership with Sime Darby Motors</a:t>
            </a:r>
          </a:p>
          <a:p>
            <a:pPr marL="571500" indent="-571500">
              <a:buFont typeface="Arial" panose="020B0604020202020204" pitchFamily="34" charset="0"/>
              <a:buChar char="•"/>
            </a:pPr>
            <a:r>
              <a:rPr lang="en-US" sz="3600" dirty="0" err="1">
                <a:ea typeface="微软雅黑"/>
                <a:cs typeface="Posterama" panose="020B0504020200020000" pitchFamily="34" charset="0"/>
              </a:rPr>
              <a:t>Jaecoo</a:t>
            </a:r>
            <a:r>
              <a:rPr lang="en-US" sz="3600" dirty="0">
                <a:ea typeface="微软雅黑"/>
                <a:cs typeface="Posterama" panose="020B0504020200020000" pitchFamily="34" charset="0"/>
              </a:rPr>
              <a:t>: 45 dealers serving both sales and after-sales support</a:t>
            </a:r>
            <a:endParaRPr lang="en-SG" sz="2400" dirty="0">
              <a:ea typeface="微软雅黑"/>
              <a:cs typeface="Posterama" panose="020B0504020200020000" pitchFamily="34" charset="0"/>
            </a:endParaRPr>
          </a:p>
        </p:txBody>
      </p:sp>
    </p:spTree>
    <p:extLst>
      <p:ext uri="{BB962C8B-B14F-4D97-AF65-F5344CB8AC3E}">
        <p14:creationId xmlns:p14="http://schemas.microsoft.com/office/powerpoint/2010/main" val="1728085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07BD1-CB7B-6185-E9AE-680391844D9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F60FD47-B229-44B9-8328-7B6CECF3F91E}"/>
              </a:ext>
            </a:extLst>
          </p:cNvPr>
          <p:cNvSpPr>
            <a:spLocks noGrp="1"/>
          </p:cNvSpPr>
          <p:nvPr>
            <p:ph type="title"/>
          </p:nvPr>
        </p:nvSpPr>
        <p:spPr>
          <a:xfrm>
            <a:off x="6710510" y="2016579"/>
            <a:ext cx="4441188" cy="2775857"/>
          </a:xfrm>
        </p:spPr>
        <p:txBody>
          <a:bodyPr/>
          <a:lstStyle/>
          <a:p>
            <a:r>
              <a:rPr lang="en-US" sz="2400" dirty="0">
                <a:solidFill>
                  <a:schemeClr val="bg1">
                    <a:lumMod val="50000"/>
                  </a:schemeClr>
                </a:solidFill>
              </a:rPr>
              <a:t>Conclusion</a:t>
            </a:r>
            <a:br>
              <a:rPr lang="en-US" dirty="0"/>
            </a:br>
            <a:r>
              <a:rPr lang="en-US" dirty="0">
                <a:solidFill>
                  <a:schemeClr val="tx1"/>
                </a:solidFill>
              </a:rPr>
              <a:t>Future of EV Adoption in MY</a:t>
            </a:r>
            <a:br>
              <a:rPr lang="en-US" dirty="0"/>
            </a:br>
            <a:endParaRPr lang="en-SG" dirty="0"/>
          </a:p>
        </p:txBody>
      </p:sp>
      <p:sp>
        <p:nvSpPr>
          <p:cNvPr id="4" name="Footer Placeholder 3">
            <a:extLst>
              <a:ext uri="{FF2B5EF4-FFF2-40B4-BE49-F238E27FC236}">
                <a16:creationId xmlns:a16="http://schemas.microsoft.com/office/drawing/2014/main" id="{A05D8B93-2921-042E-C389-1F2E60389DEB}"/>
              </a:ext>
            </a:extLst>
          </p:cNvPr>
          <p:cNvSpPr>
            <a:spLocks noGrp="1"/>
          </p:cNvSpPr>
          <p:nvPr>
            <p:ph type="ftr" sz="quarter" idx="4294967295"/>
          </p:nvPr>
        </p:nvSpPr>
        <p:spPr>
          <a:xfrm>
            <a:off x="-1" y="6218238"/>
            <a:ext cx="4855029" cy="365125"/>
          </a:xfrm>
        </p:spPr>
        <p:txBody>
          <a:bodyPr/>
          <a:lstStyle/>
          <a:p>
            <a:r>
              <a:rPr lang="en-US" altLang="zh-CN" dirty="0"/>
              <a:t>The Scale &amp; Impact of the Shift to EVs Among Malaysian Drivers</a:t>
            </a:r>
            <a:endParaRPr lang="en-US" dirty="0"/>
          </a:p>
        </p:txBody>
      </p:sp>
      <p:sp>
        <p:nvSpPr>
          <p:cNvPr id="5" name="Slide Number Placeholder 4">
            <a:extLst>
              <a:ext uri="{FF2B5EF4-FFF2-40B4-BE49-F238E27FC236}">
                <a16:creationId xmlns:a16="http://schemas.microsoft.com/office/drawing/2014/main" id="{8E31DEAA-E94D-B53A-5802-DA23038398A9}"/>
              </a:ext>
            </a:extLst>
          </p:cNvPr>
          <p:cNvSpPr>
            <a:spLocks noGrp="1"/>
          </p:cNvSpPr>
          <p:nvPr>
            <p:ph type="sldNum" sz="quarter" idx="4294967295"/>
          </p:nvPr>
        </p:nvSpPr>
        <p:spPr>
          <a:xfrm>
            <a:off x="11733213" y="6218238"/>
            <a:ext cx="458787" cy="365125"/>
          </a:xfrm>
        </p:spPr>
        <p:txBody>
          <a:bodyPr/>
          <a:lstStyle/>
          <a:p>
            <a:fld id="{47FEACEE-25B4-4A2D-B147-27296E36371D}" type="slidenum">
              <a:rPr lang="en-US" altLang="zh-CN" smtClean="0"/>
              <a:pPr/>
              <a:t>26</a:t>
            </a:fld>
            <a:endParaRPr lang="en-US" altLang="zh-CN" dirty="0"/>
          </a:p>
        </p:txBody>
      </p:sp>
      <p:pic>
        <p:nvPicPr>
          <p:cNvPr id="20" name="Picture 19">
            <a:extLst>
              <a:ext uri="{FF2B5EF4-FFF2-40B4-BE49-F238E27FC236}">
                <a16:creationId xmlns:a16="http://schemas.microsoft.com/office/drawing/2014/main" id="{094891ED-BEB4-8F54-16C6-D7A886D75228}"/>
              </a:ext>
            </a:extLst>
          </p:cNvPr>
          <p:cNvPicPr>
            <a:picLocks noChangeAspect="1"/>
          </p:cNvPicPr>
          <p:nvPr/>
        </p:nvPicPr>
        <p:blipFill>
          <a:blip r:embed="rId2">
            <a:extLst>
              <a:ext uri="{837473B0-CC2E-450A-ABE3-18F120FF3D39}">
                <a1611:picAttrSrcUrl xmlns:a1611="http://schemas.microsoft.com/office/drawing/2016/11/main" r:id="rId3"/>
              </a:ext>
            </a:extLst>
          </a:blip>
          <a:srcRect/>
          <a:stretch/>
        </p:blipFill>
        <p:spPr>
          <a:xfrm>
            <a:off x="1668043" y="2762760"/>
            <a:ext cx="2939295" cy="1332480"/>
          </a:xfrm>
          <a:prstGeom prst="rect">
            <a:avLst/>
          </a:prstGeom>
        </p:spPr>
      </p:pic>
    </p:spTree>
    <p:extLst>
      <p:ext uri="{BB962C8B-B14F-4D97-AF65-F5344CB8AC3E}">
        <p14:creationId xmlns:p14="http://schemas.microsoft.com/office/powerpoint/2010/main" val="241832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EEE5DF-F49A-ABE5-71BA-8EE2D3980441}"/>
              </a:ext>
            </a:extLst>
          </p:cNvPr>
          <p:cNvSpPr>
            <a:spLocks noGrp="1"/>
          </p:cNvSpPr>
          <p:nvPr>
            <p:ph type="title"/>
          </p:nvPr>
        </p:nvSpPr>
        <p:spPr/>
        <p:txBody>
          <a:bodyPr/>
          <a:lstStyle/>
          <a:p>
            <a:r>
              <a:rPr lang="en-US" dirty="0">
                <a:solidFill>
                  <a:schemeClr val="tx1"/>
                </a:solidFill>
              </a:rPr>
              <a:t>Future of EV Adoption in MY</a:t>
            </a:r>
            <a:endParaRPr lang="en-SG" dirty="0"/>
          </a:p>
        </p:txBody>
      </p:sp>
      <p:sp>
        <p:nvSpPr>
          <p:cNvPr id="7" name="TextBox 6">
            <a:extLst>
              <a:ext uri="{FF2B5EF4-FFF2-40B4-BE49-F238E27FC236}">
                <a16:creationId xmlns:a16="http://schemas.microsoft.com/office/drawing/2014/main" id="{170B4080-5780-28BD-9F25-56D89E3A2D56}"/>
              </a:ext>
            </a:extLst>
          </p:cNvPr>
          <p:cNvSpPr txBox="1"/>
          <p:nvPr/>
        </p:nvSpPr>
        <p:spPr>
          <a:xfrm>
            <a:off x="587829" y="1622510"/>
            <a:ext cx="11016342" cy="3323987"/>
          </a:xfrm>
          <a:prstGeom prst="rect">
            <a:avLst/>
          </a:prstGeom>
        </p:spPr>
        <p:txBody>
          <a:bodyPr wrap="square" rtlCol="0">
            <a:spAutoFit/>
          </a:bodyPr>
          <a:lstStyle/>
          <a:p>
            <a:pPr marL="285750" indent="-285750">
              <a:buFont typeface="Arial" panose="020B0604020202020204" pitchFamily="34" charset="0"/>
              <a:buChar char="•"/>
            </a:pPr>
            <a:r>
              <a:rPr lang="en-US" sz="3600" dirty="0"/>
              <a:t>EVs accounted for 4.32% of the total car market in 2025</a:t>
            </a:r>
          </a:p>
          <a:p>
            <a:pPr marL="742950" lvl="1" indent="-285750">
              <a:buFont typeface="Arial" panose="020B0604020202020204" pitchFamily="34" charset="0"/>
              <a:buChar char="•"/>
            </a:pPr>
            <a:r>
              <a:rPr lang="en-US" sz="2400" dirty="0"/>
              <a:t>A sharp rise from just 0.05% in 2021—an 84-fold increase</a:t>
            </a:r>
          </a:p>
          <a:p>
            <a:pPr marL="285750" indent="-285750">
              <a:buFont typeface="Arial" panose="020B0604020202020204" pitchFamily="34" charset="0"/>
              <a:buChar char="•"/>
            </a:pPr>
            <a:r>
              <a:rPr lang="en-US" sz="3600" dirty="0"/>
              <a:t>Well-positioned to achieve the government’s target of 15% of new car sales being EVs by 2030</a:t>
            </a:r>
          </a:p>
          <a:p>
            <a:pPr marL="742950" lvl="1" indent="-285750">
              <a:buFont typeface="Arial" panose="020B0604020202020204" pitchFamily="34" charset="0"/>
              <a:buChar char="•"/>
            </a:pPr>
            <a:r>
              <a:rPr lang="en-US" sz="2400" dirty="0"/>
              <a:t>Continued policy support &amp; sustained investment in charging infrastructure</a:t>
            </a:r>
          </a:p>
          <a:p>
            <a:pPr marL="971550" lvl="1" indent="-285750"/>
            <a:endParaRPr lang="en-US" dirty="0"/>
          </a:p>
        </p:txBody>
      </p:sp>
    </p:spTree>
    <p:extLst>
      <p:ext uri="{BB962C8B-B14F-4D97-AF65-F5344CB8AC3E}">
        <p14:creationId xmlns:p14="http://schemas.microsoft.com/office/powerpoint/2010/main" val="1246673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96000" y="2457216"/>
            <a:ext cx="5055698" cy="1325563"/>
          </a:xfrm>
        </p:spPr>
        <p:txBody>
          <a:bodyPr/>
          <a:lstStyle/>
          <a:p>
            <a:r>
              <a:rPr lang="en-US" dirty="0"/>
              <a:t>Thank you</a:t>
            </a:r>
          </a:p>
        </p:txBody>
      </p:sp>
      <p:pic>
        <p:nvPicPr>
          <p:cNvPr id="14" name="Picture Placeholder 13">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a:blip r:embed="rId3"/>
          <a:srcRect/>
          <a:stretch/>
        </p:blipFill>
        <p:spPr/>
      </p:pic>
      <p:pic>
        <p:nvPicPr>
          <p:cNvPr id="16" name="Picture Placeholder 15">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a:blip r:embed="rId4"/>
          <a:srcRect/>
          <a:stretch/>
        </p:blipFill>
        <p:spPr/>
      </p:pic>
      <p:pic>
        <p:nvPicPr>
          <p:cNvPr id="18" name="Picture Placeholder 17">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a:blip r:embed="rId5"/>
          <a:srcRect/>
          <a:stretch/>
        </p:blipFill>
        <p:spPr/>
      </p:pic>
      <p:pic>
        <p:nvPicPr>
          <p:cNvPr id="28" name="Picture Placeholder 27">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a:srcRect/>
          <a:stretch/>
        </p:blipFill>
        <p:spPr/>
      </p:pic>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515263-A3DE-4193-B6AA-5C449C94519F}">
  <ds:schemaRefs>
    <ds:schemaRef ds:uri="http://schemas.microsoft.com/sharepoint/v3/contenttype/forms"/>
  </ds:schemaRefs>
</ds:datastoreItem>
</file>

<file path=customXml/itemProps2.xml><?xml version="1.0" encoding="utf-8"?>
<ds:datastoreItem xmlns:ds="http://schemas.openxmlformats.org/officeDocument/2006/customXml" ds:itemID="{74CFA8B0-C7B8-4655-A378-2962C04794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AD9BE2-6B3D-4616-B044-300A8177DEA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1609</TotalTime>
  <Words>2660</Words>
  <Application>Microsoft Office PowerPoint</Application>
  <PresentationFormat>Widescreen</PresentationFormat>
  <Paragraphs>288</Paragraphs>
  <Slides>28</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等线</vt:lpstr>
      <vt:lpstr>微软雅黑</vt:lpstr>
      <vt:lpstr>Posterama Text Black</vt:lpstr>
      <vt:lpstr>Posterama Text SemiBold</vt:lpstr>
      <vt:lpstr>Abadi</vt:lpstr>
      <vt:lpstr>Arial</vt:lpstr>
      <vt:lpstr>Calibri</vt:lpstr>
      <vt:lpstr>Posterama</vt:lpstr>
      <vt:lpstr>Custom​​</vt:lpstr>
      <vt:lpstr>The Scale &amp; Impact of the Shift to EVs Among Malaysian Drivers</vt:lpstr>
      <vt:lpstr>PowerPoint Presentation</vt:lpstr>
      <vt:lpstr>Introduction</vt:lpstr>
      <vt:lpstr>Literature Review</vt:lpstr>
      <vt:lpstr>Project Objectives</vt:lpstr>
      <vt:lpstr>Methodology</vt:lpstr>
      <vt:lpstr>Analysis Market  Share Trends </vt:lpstr>
      <vt:lpstr>Total Vehicle Registrations</vt:lpstr>
      <vt:lpstr>Market Share Trends by EV Car Type</vt:lpstr>
      <vt:lpstr>Market Share Trends by Fuel Type</vt:lpstr>
      <vt:lpstr>Market Share Trends by EV Maker</vt:lpstr>
      <vt:lpstr>Market Share Trends by EV Car Model</vt:lpstr>
      <vt:lpstr>Market Share Trends by EV Makers’ Region of Origin</vt:lpstr>
      <vt:lpstr>Median price Malaysian car owners pay for a petrol car</vt:lpstr>
      <vt:lpstr>Median price Malaysian car owners pay for an EV </vt:lpstr>
      <vt:lpstr>Analysis Malaysian car owners’ sentiment on EV purchase decision </vt:lpstr>
      <vt:lpstr>Reddit thread 1: “Are EV cars practical in Malaysia?” (128 comments)</vt:lpstr>
      <vt:lpstr>Reddit thread 2: “EV owners, what are your thoughts after using them after few years?” (21 comments)</vt:lpstr>
      <vt:lpstr>Reddit thread 3: “How long more will ICE cars stay relevant in Malaysia?” (59 comments)</vt:lpstr>
      <vt:lpstr>Reddit thread 4: “EV worth it?” (36 comments)</vt:lpstr>
      <vt:lpstr>Discussion What do the numbers tell us? </vt:lpstr>
      <vt:lpstr>EV Adoption Trends</vt:lpstr>
      <vt:lpstr>Market Share Analysis</vt:lpstr>
      <vt:lpstr>Consumer Sentiment Toward EVs</vt:lpstr>
      <vt:lpstr>Strategic Distribution Partnership as a Key Ingredient to Chinese EV Brands’ Success </vt:lpstr>
      <vt:lpstr>Conclusion Future of EV Adoption in MY </vt:lpstr>
      <vt:lpstr>Future of EV Adoption in MY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Peng Tee</dc:creator>
  <cp:lastModifiedBy>Le Peng Tee</cp:lastModifiedBy>
  <cp:revision>18</cp:revision>
  <dcterms:created xsi:type="dcterms:W3CDTF">2025-08-09T00:44:41Z</dcterms:created>
  <dcterms:modified xsi:type="dcterms:W3CDTF">2025-08-27T00:14:37Z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